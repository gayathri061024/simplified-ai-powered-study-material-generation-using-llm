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169" r:id="rId1"/>
  </p:sldMasterIdLst>
  <p:notesMasterIdLst>
    <p:notesMasterId r:id="rId33"/>
  </p:notesMasterIdLst>
  <p:sldIdLst>
    <p:sldId id="256" r:id="rId2"/>
    <p:sldId id="261" r:id="rId3"/>
    <p:sldId id="305" r:id="rId4"/>
    <p:sldId id="292" r:id="rId5"/>
    <p:sldId id="284" r:id="rId6"/>
    <p:sldId id="285" r:id="rId7"/>
    <p:sldId id="270" r:id="rId8"/>
    <p:sldId id="273" r:id="rId9"/>
    <p:sldId id="272" r:id="rId10"/>
    <p:sldId id="262" r:id="rId11"/>
    <p:sldId id="296" r:id="rId12"/>
    <p:sldId id="297" r:id="rId13"/>
    <p:sldId id="299" r:id="rId14"/>
    <p:sldId id="300" r:id="rId15"/>
    <p:sldId id="286" r:id="rId16"/>
    <p:sldId id="298" r:id="rId17"/>
    <p:sldId id="307" r:id="rId18"/>
    <p:sldId id="308" r:id="rId19"/>
    <p:sldId id="309" r:id="rId20"/>
    <p:sldId id="310" r:id="rId21"/>
    <p:sldId id="311" r:id="rId22"/>
    <p:sldId id="312" r:id="rId23"/>
    <p:sldId id="302" r:id="rId24"/>
    <p:sldId id="313" r:id="rId25"/>
    <p:sldId id="314" r:id="rId26"/>
    <p:sldId id="303" r:id="rId27"/>
    <p:sldId id="304" r:id="rId28"/>
    <p:sldId id="267" r:id="rId29"/>
    <p:sldId id="269" r:id="rId30"/>
    <p:sldId id="301" r:id="rId31"/>
    <p:sldId id="306" r:id="rId32"/>
  </p:sldIdLst>
  <p:sldSz cx="14630400" cy="8229600"/>
  <p:notesSz cx="8229600" cy="14630400"/>
  <p:embeddedFontLst>
    <p:embeddedFont>
      <p:font typeface="Arimo" panose="020B0604020202020204" charset="0"/>
      <p:regular r:id="rId34"/>
      <p:bold r:id="rId35"/>
      <p:italic r:id="rId36"/>
      <p:boldItalic r:id="rId37"/>
    </p:embeddedFont>
    <p:embeddedFont>
      <p:font typeface="EB Garamond" panose="00000500000000000000" pitchFamily="2" charset="0"/>
      <p:regular r:id="rId38"/>
      <p:bold r:id="rId39"/>
      <p:italic r:id="rId40"/>
      <p:boldItalic r:id="rId41"/>
    </p:embeddedFont>
    <p:embeddedFont>
      <p:font typeface="EB Garamond ExtraBold" panose="00000900000000000000" pitchFamily="2" charset="0"/>
      <p:bold r:id="rId42"/>
      <p:boldItalic r:id="rId43"/>
    </p:embeddedFont>
    <p:embeddedFont>
      <p:font typeface="Outfit ExtraBold" panose="020B0604020202020204" charset="0"/>
      <p:bold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a42u6TyVdE8+i+Xgt2ZSsqcuD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24" autoAdjust="0"/>
    <p:restoredTop sz="86797" autoAdjust="0"/>
  </p:normalViewPr>
  <p:slideViewPr>
    <p:cSldViewPr snapToGrid="0">
      <p:cViewPr varScale="1">
        <p:scale>
          <a:sx n="57" d="100"/>
          <a:sy n="57" d="100"/>
        </p:scale>
        <p:origin x="1426"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39" d="100"/>
          <a:sy n="39" d="100"/>
        </p:scale>
        <p:origin x="3566" y="8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 name="Google Shape;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0" name="Google Shape;110;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783DC89C-8BCC-673C-D996-F3404FB9A8A4}"/>
            </a:ext>
          </a:extLst>
        </p:cNvPr>
        <p:cNvGrpSpPr/>
        <p:nvPr/>
      </p:nvGrpSpPr>
      <p:grpSpPr>
        <a:xfrm>
          <a:off x="0" y="0"/>
          <a:ext cx="0" cy="0"/>
          <a:chOff x="0" y="0"/>
          <a:chExt cx="0" cy="0"/>
        </a:xfrm>
      </p:grpSpPr>
      <p:sp>
        <p:nvSpPr>
          <p:cNvPr id="66" name="Google Shape;66;p3:notes">
            <a:extLst>
              <a:ext uri="{FF2B5EF4-FFF2-40B4-BE49-F238E27FC236}">
                <a16:creationId xmlns:a16="http://schemas.microsoft.com/office/drawing/2014/main" id="{98DCDB4F-6981-6CAD-274E-A34DC077F4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3:notes">
            <a:extLst>
              <a:ext uri="{FF2B5EF4-FFF2-40B4-BE49-F238E27FC236}">
                <a16:creationId xmlns:a16="http://schemas.microsoft.com/office/drawing/2014/main" id="{91EC9EE6-AF72-2A5E-BA9D-F08B861145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3:notes">
            <a:extLst>
              <a:ext uri="{FF2B5EF4-FFF2-40B4-BE49-F238E27FC236}">
                <a16:creationId xmlns:a16="http://schemas.microsoft.com/office/drawing/2014/main" id="{241A9FE5-64AA-A5B8-D4C0-89182A3C361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012034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6" name="Google Shape;11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extLst>
      <p:ext uri="{BB962C8B-B14F-4D97-AF65-F5344CB8AC3E}">
        <p14:creationId xmlns:p14="http://schemas.microsoft.com/office/powerpoint/2010/main" val="1218948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27</a:t>
            </a:fld>
            <a:endParaRPr lang="en-US"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12990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7FC5E1E7-0572-0283-9D6E-F28B292E41EB}"/>
            </a:ext>
          </a:extLst>
        </p:cNvPr>
        <p:cNvGrpSpPr/>
        <p:nvPr/>
      </p:nvGrpSpPr>
      <p:grpSpPr>
        <a:xfrm>
          <a:off x="0" y="0"/>
          <a:ext cx="0" cy="0"/>
          <a:chOff x="0" y="0"/>
          <a:chExt cx="0" cy="0"/>
        </a:xfrm>
      </p:grpSpPr>
      <p:sp>
        <p:nvSpPr>
          <p:cNvPr id="153" name="Google Shape;153;p12:notes">
            <a:extLst>
              <a:ext uri="{FF2B5EF4-FFF2-40B4-BE49-F238E27FC236}">
                <a16:creationId xmlns:a16="http://schemas.microsoft.com/office/drawing/2014/main" id="{C3AC4197-C0C4-933A-5AC0-A916DC5C6B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2:notes">
            <a:extLst>
              <a:ext uri="{FF2B5EF4-FFF2-40B4-BE49-F238E27FC236}">
                <a16:creationId xmlns:a16="http://schemas.microsoft.com/office/drawing/2014/main" id="{0955C464-A69E-4406-97EF-2BD6258324B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2:notes">
            <a:extLst>
              <a:ext uri="{FF2B5EF4-FFF2-40B4-BE49-F238E27FC236}">
                <a16:creationId xmlns:a16="http://schemas.microsoft.com/office/drawing/2014/main" id="{7440F7D1-8EFD-7B9E-2225-B1D16DC83F0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2791627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rgbClr val="000000"/>
                </a:solidFill>
                <a:latin typeface="Arial"/>
                <a:ea typeface="Arial"/>
                <a:cs typeface="Arial"/>
                <a:sym typeface="Arial"/>
              </a:rPr>
              <a:t>31</a:t>
            </a:fld>
            <a:endParaRPr lang="en-US"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03489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5E55-659B-A4B8-C3C4-513F229004D8}"/>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B237B745-4456-AC2C-658F-72DFA043BF00}"/>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EDEE343-0814-2169-DF20-74282CF6A998}"/>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5" name="Footer Placeholder 4">
            <a:extLst>
              <a:ext uri="{FF2B5EF4-FFF2-40B4-BE49-F238E27FC236}">
                <a16:creationId xmlns:a16="http://schemas.microsoft.com/office/drawing/2014/main" id="{7936682A-AB60-29A0-6520-CA9CEBC841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5709B2-D838-77A7-6756-15BC9C75C88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447088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CFD6-AA8F-40A7-F269-69BAD9770F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440F0B-E528-71A2-7C04-76F1859D0D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F6F294-8D69-284C-B3D7-0BA9579E5ADA}"/>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5" name="Footer Placeholder 4">
            <a:extLst>
              <a:ext uri="{FF2B5EF4-FFF2-40B4-BE49-F238E27FC236}">
                <a16:creationId xmlns:a16="http://schemas.microsoft.com/office/drawing/2014/main" id="{9A2E95DC-C3FB-CC6B-E939-88E3AAC83A8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B82EDC-B123-4176-93E0-F894378FEAC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40933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38DC-1B3A-7E53-3159-F765A3B08C13}"/>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D7B565-75E2-C0A6-106E-0A1E14816740}"/>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88649-9A50-5C7D-F7CD-B1B5CBB336C1}"/>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5" name="Footer Placeholder 4">
            <a:extLst>
              <a:ext uri="{FF2B5EF4-FFF2-40B4-BE49-F238E27FC236}">
                <a16:creationId xmlns:a16="http://schemas.microsoft.com/office/drawing/2014/main" id="{F9A10B8C-FED0-161A-5E7A-10A48C5862C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035FE4-E0C6-828C-8CEA-196BA456FA0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635564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65539-3CF4-D970-FE79-6BE8611655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FC41FE-DAB1-5EF8-5864-39D23F3EDAD2}"/>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648D5E-E120-FA08-9904-1F7C350F48F8}"/>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37FBBE-083D-54ED-3F7A-0853AD63324E}"/>
              </a:ext>
            </a:extLst>
          </p:cNvPr>
          <p:cNvSpPr>
            <a:spLocks noGrp="1"/>
          </p:cNvSpPr>
          <p:nvPr>
            <p:ph type="dt" sz="half" idx="10"/>
          </p:nvPr>
        </p:nvSpPr>
        <p:spPr/>
        <p:txBody>
          <a:bodyPr/>
          <a:lstStyle/>
          <a:p>
            <a:fld id="{EB712588-04B1-427B-82EE-E8DB90309F08}" type="datetimeFigureOut">
              <a:rPr lang="en-US" smtClean="0"/>
              <a:t>5/6/2026</a:t>
            </a:fld>
            <a:endParaRPr lang="en-US" dirty="0"/>
          </a:p>
        </p:txBody>
      </p:sp>
      <p:sp>
        <p:nvSpPr>
          <p:cNvPr id="6" name="Footer Placeholder 5">
            <a:extLst>
              <a:ext uri="{FF2B5EF4-FFF2-40B4-BE49-F238E27FC236}">
                <a16:creationId xmlns:a16="http://schemas.microsoft.com/office/drawing/2014/main" id="{E2606761-9B78-0EBD-1373-0785E3D06BE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01B7F19-9B5D-07AE-C008-BA1CAA1103CD}"/>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85725431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B9E0-884D-FC61-3926-93B92A8042B4}"/>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636FC8-6DB0-DF71-07FA-EF19162E00DC}"/>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65580554-ABC6-DCE2-5F67-7ADEE760073F}"/>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129BD4-73AC-B922-2296-6EF938D44BE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EC19E3F7-082B-8975-916E-1DD6F67DD465}"/>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3760BF-8B66-E241-CA65-332152E80C7C}"/>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8" name="Footer Placeholder 7">
            <a:extLst>
              <a:ext uri="{FF2B5EF4-FFF2-40B4-BE49-F238E27FC236}">
                <a16:creationId xmlns:a16="http://schemas.microsoft.com/office/drawing/2014/main" id="{EAD8A98C-6362-B17B-CD97-F614B9C0425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43CD394-B266-0BAC-4897-D59A41080A6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876743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8C840-86B3-0A17-E696-E46BEC65B8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1C890B-760F-F555-AD03-83703A7001DA}"/>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4" name="Footer Placeholder 3">
            <a:extLst>
              <a:ext uri="{FF2B5EF4-FFF2-40B4-BE49-F238E27FC236}">
                <a16:creationId xmlns:a16="http://schemas.microsoft.com/office/drawing/2014/main" id="{EF2D2A7A-21BA-40B1-411A-D70FC6961EF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4927096-AB36-A789-F313-D3412ECC324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32241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863D82-23DE-3226-E756-54CC885ACD08}"/>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3" name="Footer Placeholder 2">
            <a:extLst>
              <a:ext uri="{FF2B5EF4-FFF2-40B4-BE49-F238E27FC236}">
                <a16:creationId xmlns:a16="http://schemas.microsoft.com/office/drawing/2014/main" id="{D84382EF-05F6-0702-22C2-2A0704EFFC6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8C6A2E7-C18C-288F-B67E-2FD3E990E9C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99137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9E7EA-FF0C-63F5-78E8-9E5B15CBAB3A}"/>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3465FD-0D06-ECF9-EE7B-85D06FA156A6}"/>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4AF5D76-CA47-EB9D-E07E-5BB8AA2DDC4D}"/>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9EA58893-9C73-D5CF-1105-406B0D082749}"/>
              </a:ext>
            </a:extLst>
          </p:cNvPr>
          <p:cNvSpPr>
            <a:spLocks noGrp="1"/>
          </p:cNvSpPr>
          <p:nvPr>
            <p:ph type="dt" sz="half" idx="10"/>
          </p:nvPr>
        </p:nvSpPr>
        <p:spPr/>
        <p:txBody>
          <a:bodyPr/>
          <a:lstStyle/>
          <a:p>
            <a:fld id="{42A54C80-263E-416B-A8E0-580EDEADCBDC}" type="datetimeFigureOut">
              <a:rPr lang="en-US" smtClean="0"/>
              <a:t>5/6/2026</a:t>
            </a:fld>
            <a:endParaRPr lang="en-US" dirty="0"/>
          </a:p>
        </p:txBody>
      </p:sp>
      <p:sp>
        <p:nvSpPr>
          <p:cNvPr id="6" name="Footer Placeholder 5">
            <a:extLst>
              <a:ext uri="{FF2B5EF4-FFF2-40B4-BE49-F238E27FC236}">
                <a16:creationId xmlns:a16="http://schemas.microsoft.com/office/drawing/2014/main" id="{47FAFB00-322A-0FB3-01B3-CA404D4A094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AFB56F-9277-D6E3-F826-18A0BEF5C24A}"/>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92088131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67B3-B4DF-CA4B-A176-B3AFC1DE7BD0}"/>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9902EF-3635-BC2D-1324-D6EFADA1F41F}"/>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C98FE891-9D6B-434D-B3EC-979639DE4AA1}"/>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5CD58035-F6E3-1763-04AD-0B7AABB06BB4}"/>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6" name="Footer Placeholder 5">
            <a:extLst>
              <a:ext uri="{FF2B5EF4-FFF2-40B4-BE49-F238E27FC236}">
                <a16:creationId xmlns:a16="http://schemas.microsoft.com/office/drawing/2014/main" id="{358B52D0-FB8E-05C7-A8A8-948BDF510F8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4E5505-1084-6F1A-51D0-4DE6E29E20E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9532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5020-97D6-9103-D462-041F795E4D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B921E5-970E-AB72-359B-9A8402AA77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2A5C36-A8A4-D9A3-FDF5-529FD6CBE24F}"/>
              </a:ext>
            </a:extLst>
          </p:cNvPr>
          <p:cNvSpPr>
            <a:spLocks noGrp="1"/>
          </p:cNvSpPr>
          <p:nvPr>
            <p:ph type="dt" sz="half" idx="10"/>
          </p:nvPr>
        </p:nvSpPr>
        <p:spPr/>
        <p:txBody>
          <a:bodyPr/>
          <a:lstStyle/>
          <a:p>
            <a:fld id="{55C6B4A9-1611-4792-9094-5F34BCA07E0B}" type="datetimeFigureOut">
              <a:rPr lang="en-US" smtClean="0"/>
              <a:t>5/6/2026</a:t>
            </a:fld>
            <a:endParaRPr lang="en-US" dirty="0"/>
          </a:p>
        </p:txBody>
      </p:sp>
      <p:sp>
        <p:nvSpPr>
          <p:cNvPr id="5" name="Footer Placeholder 4">
            <a:extLst>
              <a:ext uri="{FF2B5EF4-FFF2-40B4-BE49-F238E27FC236}">
                <a16:creationId xmlns:a16="http://schemas.microsoft.com/office/drawing/2014/main" id="{AA40BBA1-70DC-4770-8CDD-904CFAADB5D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FC03F4-2BAD-19D6-EE74-FFA0EB4A979B}"/>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25122614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9600E2-A5DB-4B44-1E2F-634BC4377C7D}"/>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43E6EF-C10D-9DF8-2882-5211C54A908D}"/>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64524-D117-79EA-0EB0-F42E4E706BB7}"/>
              </a:ext>
            </a:extLst>
          </p:cNvPr>
          <p:cNvSpPr>
            <a:spLocks noGrp="1"/>
          </p:cNvSpPr>
          <p:nvPr>
            <p:ph type="dt" sz="half" idx="10"/>
          </p:nvPr>
        </p:nvSpPr>
        <p:spPr/>
        <p:txBody>
          <a:bodyPr/>
          <a:lstStyle/>
          <a:p>
            <a:fld id="{B61BEF0D-F0BB-DE4B-95CE-6DB70DBA9567}" type="datetimeFigureOut">
              <a:rPr lang="en-US" smtClean="0"/>
              <a:pPr/>
              <a:t>5/6/2026</a:t>
            </a:fld>
            <a:endParaRPr lang="en-US" dirty="0"/>
          </a:p>
        </p:txBody>
      </p:sp>
      <p:sp>
        <p:nvSpPr>
          <p:cNvPr id="5" name="Footer Placeholder 4">
            <a:extLst>
              <a:ext uri="{FF2B5EF4-FFF2-40B4-BE49-F238E27FC236}">
                <a16:creationId xmlns:a16="http://schemas.microsoft.com/office/drawing/2014/main" id="{BCE85E2A-27C8-DBC6-97E5-386CBCCCB99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356E6D-9E22-C186-0B52-E560AB96193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011718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751246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6"/>
        <p:cNvGrpSpPr/>
        <p:nvPr/>
      </p:nvGrpSpPr>
      <p:grpSpPr>
        <a:xfrm>
          <a:off x="0" y="0"/>
          <a:ext cx="0" cy="0"/>
          <a:chOff x="0" y="0"/>
          <a:chExt cx="0" cy="0"/>
        </a:xfrm>
      </p:grpSpPr>
    </p:spTree>
    <p:extLst>
      <p:ext uri="{BB962C8B-B14F-4D97-AF65-F5344CB8AC3E}">
        <p14:creationId xmlns:p14="http://schemas.microsoft.com/office/powerpoint/2010/main" val="2857608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491425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75E4A9-F25E-C2F0-1E3F-7C207CA1255E}"/>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FA956C-F314-D9B0-E016-463AE4124661}"/>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C1C528-0D69-7F41-E158-1F1F6CCCBF4A}"/>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61BEF0D-F0BB-DE4B-95CE-6DB70DBA9567}" type="datetimeFigureOut">
              <a:rPr lang="en-US" smtClean="0"/>
              <a:pPr/>
              <a:t>5/6/2026</a:t>
            </a:fld>
            <a:endParaRPr lang="en-US" dirty="0"/>
          </a:p>
        </p:txBody>
      </p:sp>
      <p:sp>
        <p:nvSpPr>
          <p:cNvPr id="5" name="Footer Placeholder 4">
            <a:extLst>
              <a:ext uri="{FF2B5EF4-FFF2-40B4-BE49-F238E27FC236}">
                <a16:creationId xmlns:a16="http://schemas.microsoft.com/office/drawing/2014/main" id="{CD02576B-42A2-A763-2648-9412AF398CCA}"/>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FF2F07E-D15B-9E5F-8ED2-D70756EC213E}"/>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48997"/>
      </p:ext>
    </p:extLst>
  </p:cSld>
  <p:clrMap bg1="lt1" tx1="dk1" bg2="lt2" tx2="dk2" accent1="accent1" accent2="accent2" accent3="accent3" accent4="accent4" accent5="accent5" accent6="accent6" hlink="hlink" folHlink="folHlink"/>
  <p:sldLayoutIdLst>
    <p:sldLayoutId id="2147484170" r:id="rId1"/>
    <p:sldLayoutId id="2147484171" r:id="rId2"/>
    <p:sldLayoutId id="2147484172" r:id="rId3"/>
    <p:sldLayoutId id="2147484173" r:id="rId4"/>
    <p:sldLayoutId id="2147484174" r:id="rId5"/>
    <p:sldLayoutId id="2147484175" r:id="rId6"/>
    <p:sldLayoutId id="2147484176" r:id="rId7"/>
    <p:sldLayoutId id="2147484177" r:id="rId8"/>
    <p:sldLayoutId id="2147484178" r:id="rId9"/>
    <p:sldLayoutId id="2147484179" r:id="rId10"/>
    <p:sldLayoutId id="2147484180" r:id="rId11"/>
    <p:sldLayoutId id="2147484181" r:id="rId12"/>
    <p:sldLayoutId id="2147484182" r:id="rId13"/>
    <p:sldLayoutId id="2147484183" r:id="rId14"/>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p:nvPr/>
        </p:nvSpPr>
        <p:spPr>
          <a:xfrm>
            <a:off x="257908" y="175846"/>
            <a:ext cx="14372492" cy="262596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231971"/>
              </a:buClr>
              <a:buSzPts val="3900"/>
              <a:buFont typeface="Outfit ExtraBold"/>
              <a:buNone/>
            </a:pPr>
            <a:endParaRPr lang="en-US" sz="3200" b="1" i="0" u="none" strike="noStrike" cap="none" dirty="0">
              <a:solidFill>
                <a:srgbClr val="231971"/>
              </a:solidFill>
              <a:latin typeface="+mj-lt"/>
              <a:sym typeface="Outfit ExtraBold"/>
            </a:endParaRPr>
          </a:p>
          <a:p>
            <a:pPr lvl="0" algn="ctr">
              <a:lnSpc>
                <a:spcPct val="124358"/>
              </a:lnSpc>
              <a:buClr>
                <a:srgbClr val="231971"/>
              </a:buClr>
              <a:buSzPts val="3900"/>
            </a:pPr>
            <a:r>
              <a:rPr lang="en-IN" sz="3200" b="1" dirty="0">
                <a:latin typeface="Times New Roman" panose="02020603050405020304" pitchFamily="18" charset="0"/>
                <a:cs typeface="Times New Roman" panose="02020603050405020304" pitchFamily="18" charset="0"/>
              </a:rPr>
              <a:t>AI-BASED AUTOMATED STUDY MATERIAL GENERATION AND  MANAGEMENT  SYSTEM  FOR  ENGINEERING  STUDENTS</a:t>
            </a:r>
            <a:endParaRPr lang="en-US" sz="320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358"/>
              </a:lnSpc>
              <a:spcBef>
                <a:spcPts val="0"/>
              </a:spcBef>
              <a:spcAft>
                <a:spcPts val="0"/>
              </a:spcAft>
              <a:buClr>
                <a:srgbClr val="231971"/>
              </a:buClr>
              <a:buSzPts val="3900"/>
              <a:buFont typeface="Outfit ExtraBold"/>
              <a:buNone/>
            </a:pPr>
            <a:endParaRPr sz="315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8" name="Google Shape;48;p1"/>
          <p:cNvSpPr txBox="1"/>
          <p:nvPr/>
        </p:nvSpPr>
        <p:spPr>
          <a:xfrm>
            <a:off x="8552328" y="4114800"/>
            <a:ext cx="4912659" cy="205291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rPr>
              <a:t>              </a:t>
            </a:r>
            <a:r>
              <a:rPr lang="en-US" sz="3000" dirty="0">
                <a:solidFill>
                  <a:schemeClr val="tx1"/>
                </a:solidFill>
                <a:latin typeface="Times New Roman" panose="02020603050405020304" pitchFamily="18" charset="0"/>
                <a:ea typeface="EB Garamond ExtraBold"/>
                <a:cs typeface="Times New Roman" panose="02020603050405020304" pitchFamily="18" charset="0"/>
                <a:sym typeface="EB Garamond ExtraBold"/>
              </a:rPr>
              <a:t>GUIDED BY</a:t>
            </a:r>
          </a:p>
          <a:p>
            <a:pPr marL="0" lvl="0" indent="0" algn="l" rtl="0">
              <a:spcBef>
                <a:spcPts val="0"/>
              </a:spcBef>
              <a:spcAft>
                <a:spcPts val="0"/>
              </a:spcAft>
              <a:buNone/>
            </a:pPr>
            <a:r>
              <a:rPr lang="en-US" sz="3000" dirty="0" err="1">
                <a:solidFill>
                  <a:srgbClr val="351C75"/>
                </a:solidFill>
                <a:latin typeface="Times New Roman" panose="02020603050405020304" pitchFamily="18" charset="0"/>
                <a:ea typeface="EB Garamond ExtraBold"/>
                <a:cs typeface="Times New Roman" panose="02020603050405020304" pitchFamily="18" charset="0"/>
                <a:sym typeface="EB Garamond ExtraBold"/>
              </a:rPr>
              <a:t>Dr.T.Mithila</a:t>
            </a:r>
            <a:endPar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endParaRPr>
          </a:p>
          <a:p>
            <a:pPr marL="0" lvl="0" indent="0" algn="l" rtl="0">
              <a:spcBef>
                <a:spcPts val="0"/>
              </a:spcBef>
              <a:spcAft>
                <a:spcPts val="0"/>
              </a:spcAft>
              <a:buNone/>
            </a:pPr>
            <a:r>
              <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rPr>
              <a:t>Department of Computer </a:t>
            </a:r>
          </a:p>
          <a:p>
            <a:pPr marL="0" lvl="0" indent="0" algn="l" rtl="0">
              <a:spcBef>
                <a:spcPts val="0"/>
              </a:spcBef>
              <a:spcAft>
                <a:spcPts val="0"/>
              </a:spcAft>
              <a:buNone/>
            </a:pPr>
            <a:r>
              <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rPr>
              <a:t>Science and Engineering</a:t>
            </a:r>
          </a:p>
        </p:txBody>
      </p:sp>
      <p:sp>
        <p:nvSpPr>
          <p:cNvPr id="4" name="TextBox 3">
            <a:extLst>
              <a:ext uri="{FF2B5EF4-FFF2-40B4-BE49-F238E27FC236}">
                <a16:creationId xmlns:a16="http://schemas.microsoft.com/office/drawing/2014/main" id="{CBEA0058-A378-DC0A-E038-05BD69956178}"/>
              </a:ext>
            </a:extLst>
          </p:cNvPr>
          <p:cNvSpPr txBox="1"/>
          <p:nvPr/>
        </p:nvSpPr>
        <p:spPr>
          <a:xfrm>
            <a:off x="860611" y="4267650"/>
            <a:ext cx="4912659" cy="1477328"/>
          </a:xfrm>
          <a:prstGeom prst="rect">
            <a:avLst/>
          </a:prstGeom>
          <a:noFill/>
        </p:spPr>
        <p:txBody>
          <a:bodyPr wrap="square">
            <a:spAutoFit/>
          </a:bodyPr>
          <a:lstStyle/>
          <a:p>
            <a:pPr marL="0" lvl="0" indent="0" algn="l" rtl="0">
              <a:spcBef>
                <a:spcPts val="0"/>
              </a:spcBef>
              <a:spcAft>
                <a:spcPts val="0"/>
              </a:spcAft>
              <a:buNone/>
            </a:pPr>
            <a:r>
              <a:rPr lang="en-US" sz="3000" dirty="0">
                <a:solidFill>
                  <a:srgbClr val="351C75"/>
                </a:solidFill>
                <a:latin typeface="EB Garamond ExtraBold"/>
                <a:ea typeface="EB Garamond ExtraBold"/>
                <a:cs typeface="EB Garamond ExtraBold"/>
                <a:sym typeface="EB Garamond ExtraBold"/>
              </a:rPr>
              <a:t>       </a:t>
            </a:r>
            <a:r>
              <a:rPr lang="en-US" sz="3000" dirty="0">
                <a:solidFill>
                  <a:schemeClr val="tx1"/>
                </a:solidFill>
                <a:latin typeface="Times New Roman" panose="02020603050405020304" pitchFamily="18" charset="0"/>
                <a:ea typeface="EB Garamond ExtraBold"/>
                <a:cs typeface="Times New Roman" panose="02020603050405020304" pitchFamily="18" charset="0"/>
                <a:sym typeface="EB Garamond ExtraBold"/>
              </a:rPr>
              <a:t>PRESENTED BY</a:t>
            </a:r>
          </a:p>
          <a:p>
            <a:pPr marL="0" lvl="0" indent="0" algn="l" rtl="0">
              <a:spcBef>
                <a:spcPts val="0"/>
              </a:spcBef>
              <a:spcAft>
                <a:spcPts val="0"/>
              </a:spcAft>
              <a:buNone/>
            </a:pPr>
            <a:r>
              <a:rPr lang="en-US" sz="3000" dirty="0" err="1">
                <a:solidFill>
                  <a:srgbClr val="351C75"/>
                </a:solidFill>
                <a:latin typeface="Times New Roman" panose="02020603050405020304" pitchFamily="18" charset="0"/>
                <a:ea typeface="EB Garamond ExtraBold"/>
                <a:cs typeface="Times New Roman" panose="02020603050405020304" pitchFamily="18" charset="0"/>
                <a:sym typeface="EB Garamond ExtraBold"/>
              </a:rPr>
              <a:t>Purnima.G</a:t>
            </a:r>
            <a:r>
              <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rPr>
              <a:t> (810022104061)</a:t>
            </a:r>
          </a:p>
          <a:p>
            <a:pPr marL="0" lvl="0" indent="0" algn="l" rtl="0">
              <a:spcBef>
                <a:spcPts val="0"/>
              </a:spcBef>
              <a:spcAft>
                <a:spcPts val="0"/>
              </a:spcAft>
              <a:buNone/>
            </a:pPr>
            <a:r>
              <a:rPr lang="en-US" sz="3000" dirty="0" err="1">
                <a:solidFill>
                  <a:srgbClr val="351C75"/>
                </a:solidFill>
                <a:latin typeface="Times New Roman" panose="02020603050405020304" pitchFamily="18" charset="0"/>
                <a:ea typeface="EB Garamond ExtraBold"/>
                <a:cs typeface="Times New Roman" panose="02020603050405020304" pitchFamily="18" charset="0"/>
                <a:sym typeface="EB Garamond ExtraBold"/>
              </a:rPr>
              <a:t>Gayathri.K</a:t>
            </a:r>
            <a:r>
              <a:rPr lang="en-US" sz="3000" dirty="0">
                <a:solidFill>
                  <a:srgbClr val="351C75"/>
                </a:solidFill>
                <a:latin typeface="Times New Roman" panose="02020603050405020304" pitchFamily="18" charset="0"/>
                <a:ea typeface="EB Garamond ExtraBold"/>
                <a:cs typeface="Times New Roman" panose="02020603050405020304" pitchFamily="18" charset="0"/>
                <a:sym typeface="EB Garamond ExtraBold"/>
              </a:rPr>
              <a:t> (810022104111</a:t>
            </a:r>
            <a:r>
              <a:rPr lang="en-US" sz="3000" dirty="0">
                <a:solidFill>
                  <a:srgbClr val="351C75"/>
                </a:solidFill>
                <a:latin typeface="EB Garamond ExtraBold"/>
                <a:ea typeface="EB Garamond ExtraBold"/>
                <a:cs typeface="EB Garamond ExtraBold"/>
                <a:sym typeface="EB Garamond ExtraBold"/>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p:nvPr/>
        </p:nvSpPr>
        <p:spPr>
          <a:xfrm>
            <a:off x="293298" y="172528"/>
            <a:ext cx="13888867" cy="6740276"/>
          </a:xfrm>
          <a:prstGeom prst="rect">
            <a:avLst/>
          </a:prstGeom>
          <a:noFill/>
          <a:ln>
            <a:noFill/>
          </a:ln>
        </p:spPr>
        <p:txBody>
          <a:bodyPr spcFirstLastPara="1" wrap="square" lIns="91425" tIns="91425" rIns="91425" bIns="91425" anchor="t" anchorCtr="0">
            <a:spAutoFit/>
          </a:bodyPr>
          <a:lstStyle/>
          <a:p>
            <a:pPr>
              <a:buSzPts val="1400"/>
            </a:pPr>
            <a:r>
              <a:rPr lang="en-US" sz="3600" b="1" dirty="0">
                <a:solidFill>
                  <a:srgbClr val="351C75"/>
                </a:solidFill>
                <a:latin typeface="Times New Roman" panose="02020603050405020304" pitchFamily="18" charset="0"/>
                <a:ea typeface="EB Garamond"/>
                <a:cs typeface="Times New Roman" panose="02020603050405020304" pitchFamily="18" charset="0"/>
                <a:sym typeface="EB Garamond"/>
              </a:rPr>
              <a:t>INTRODUCTION</a:t>
            </a:r>
            <a:r>
              <a:rPr lang="en-US" sz="36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This project presents an advanced AI-driven platform designed to modernize the creation and management of academic study materials, specifically for engineering students under the Anna University curriculum. Developed using the Flask framework and powered by the high-speed </a:t>
            </a:r>
            <a:r>
              <a:rPr lang="en-US" sz="3000" dirty="0" err="1">
                <a:latin typeface="Times New Roman" panose="02020603050405020304" pitchFamily="18" charset="0"/>
                <a:cs typeface="Times New Roman" panose="02020603050405020304" pitchFamily="18" charset="0"/>
              </a:rPr>
              <a:t>Groq</a:t>
            </a:r>
            <a:r>
              <a:rPr lang="en-US" sz="3000" dirty="0">
                <a:latin typeface="Times New Roman" panose="02020603050405020304" pitchFamily="18" charset="0"/>
                <a:cs typeface="Times New Roman" panose="02020603050405020304" pitchFamily="18" charset="0"/>
              </a:rPr>
              <a:t> LPU Inference Engine with Meta’s Llama-3 models, the system automates the generation of comprehensive resources, including structured notes, coding examples, MCQs and Bloom’s Taxonomy-based assessments. Unlike traditional AI tools, the platform incorporates a robust three-tier portal architecture for Students, Faculty, and Admins, featuring a mandatory faculty verification pipeline and plagiarism detection. This ensures that every piece of content is not only generated instantly but is also accurate, original, and academically verified, significantly reducing faculty workload while enhancing the personalized learning experience for students.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77486-EC6B-DDB3-3E4A-B9FB5AC311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9835F-7976-BD3B-A735-76485944EDE1}"/>
              </a:ext>
            </a:extLst>
          </p:cNvPr>
          <p:cNvSpPr txBox="1"/>
          <p:nvPr/>
        </p:nvSpPr>
        <p:spPr>
          <a:xfrm>
            <a:off x="838200" y="266701"/>
            <a:ext cx="13139057" cy="6494085"/>
          </a:xfrm>
          <a:prstGeom prst="rect">
            <a:avLst/>
          </a:prstGeom>
          <a:noFill/>
        </p:spPr>
        <p:txBody>
          <a:bodyPr wrap="square">
            <a:spAutoFit/>
          </a:bodyPr>
          <a:lstStyle/>
          <a:p>
            <a:r>
              <a:rPr lang="en-IN" sz="3200" b="1" dirty="0">
                <a:solidFill>
                  <a:srgbClr val="351C75"/>
                </a:solidFill>
                <a:latin typeface="Times New Roman" panose="02020603050405020304" pitchFamily="18" charset="0"/>
                <a:ea typeface="EB Garamond"/>
                <a:cs typeface="Times New Roman" panose="02020603050405020304" pitchFamily="18" charset="0"/>
                <a:sym typeface="EB Garamond"/>
              </a:rPr>
              <a:t>PROBLEM STATEMENT</a:t>
            </a:r>
          </a:p>
          <a:p>
            <a:endParaRPr lang="en-IN" sz="3200" b="1" dirty="0">
              <a:solidFill>
                <a:srgbClr val="351C75"/>
              </a:solidFill>
              <a:latin typeface="Times New Roman" panose="02020603050405020304" pitchFamily="18" charset="0"/>
              <a:ea typeface="EB Garamond"/>
              <a:cs typeface="Times New Roman" panose="02020603050405020304" pitchFamily="18" charset="0"/>
              <a:sym typeface="EB Garamond"/>
            </a:endParaRPr>
          </a:p>
          <a:p>
            <a:r>
              <a:rPr lang="en-US" sz="3200" dirty="0">
                <a:latin typeface="Times New Roman" panose="02020603050405020304" pitchFamily="18" charset="0"/>
                <a:cs typeface="Times New Roman" panose="02020603050405020304" pitchFamily="18" charset="0"/>
              </a:rPr>
              <a:t>The rapid growth and evolution of engineering </a:t>
            </a:r>
            <a:r>
              <a:rPr lang="en-US" sz="3200" dirty="0" err="1">
                <a:latin typeface="Times New Roman" panose="02020603050405020304" pitchFamily="18" charset="0"/>
                <a:cs typeface="Times New Roman" panose="02020603050405020304" pitchFamily="18" charset="0"/>
              </a:rPr>
              <a:t>curriculam</a:t>
            </a:r>
            <a:r>
              <a:rPr lang="en-US" sz="3200" dirty="0">
                <a:latin typeface="Times New Roman" panose="02020603050405020304" pitchFamily="18" charset="0"/>
                <a:cs typeface="Times New Roman" panose="02020603050405020304" pitchFamily="18" charset="0"/>
              </a:rPr>
              <a:t> demand consistent, high-quality, and timely academic resources for students. However, traditional methods of preparing study materials remain inefficient, as they are time-consuming, inconsistent in quality, and heavily dependent on manual faculty effort. Furthermore, while generic AI tools exist, they often lack syllabus specificity and can produce inaccurate information. This creates a significant gap in the educational pipeline, where students lack immediate access to verified, personalized practice materials, and faculty are overburdened with repetitive content creation tasks. There is a critical need for an automated system that can generate high-quality, syllabus-aligned resources while maintaining academic integrity through a structured verification process."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2155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909008-ECDF-0A22-6F81-49665343D91E}"/>
              </a:ext>
            </a:extLst>
          </p:cNvPr>
          <p:cNvSpPr txBox="1"/>
          <p:nvPr/>
        </p:nvSpPr>
        <p:spPr>
          <a:xfrm>
            <a:off x="723900" y="228600"/>
            <a:ext cx="13189324" cy="6740307"/>
          </a:xfrm>
          <a:prstGeom prst="rect">
            <a:avLst/>
          </a:prstGeom>
          <a:noFill/>
        </p:spPr>
        <p:txBody>
          <a:bodyPr wrap="square">
            <a:spAutoFit/>
          </a:bodyPr>
          <a:lstStyle/>
          <a:p>
            <a:r>
              <a:rPr lang="en-US" sz="3600" b="1" dirty="0">
                <a:solidFill>
                  <a:srgbClr val="351C75"/>
                </a:solidFill>
                <a:latin typeface="Times New Roman" panose="02020603050405020304" pitchFamily="18" charset="0"/>
                <a:ea typeface="EB Garamond"/>
                <a:cs typeface="Times New Roman" panose="02020603050405020304" pitchFamily="18" charset="0"/>
                <a:sym typeface="EB Garamond"/>
              </a:rPr>
              <a:t>OBJECTIVES</a:t>
            </a:r>
          </a:p>
          <a:p>
            <a:endParaRPr lang="en-IN" sz="3600" dirty="0"/>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Automation of Content Generation:</a:t>
            </a:r>
            <a:r>
              <a:rPr lang="en-US" sz="3000" dirty="0">
                <a:latin typeface="Times New Roman" panose="02020603050405020304" pitchFamily="18" charset="0"/>
                <a:cs typeface="Times New Roman" panose="02020603050405020304" pitchFamily="18" charset="0"/>
              </a:rPr>
              <a:t> To automate the creation of high-quality, syllabus-specific study materials using the </a:t>
            </a:r>
            <a:r>
              <a:rPr lang="en-US" sz="3000" dirty="0" err="1">
                <a:latin typeface="Times New Roman" panose="02020603050405020304" pitchFamily="18" charset="0"/>
                <a:cs typeface="Times New Roman" panose="02020603050405020304" pitchFamily="18" charset="0"/>
              </a:rPr>
              <a:t>Groq</a:t>
            </a:r>
            <a:r>
              <a:rPr lang="en-US" sz="3000" dirty="0">
                <a:latin typeface="Times New Roman" panose="02020603050405020304" pitchFamily="18" charset="0"/>
                <a:cs typeface="Times New Roman" panose="02020603050405020304" pitchFamily="18" charset="0"/>
              </a:rPr>
              <a:t> LPU and Llama-3 models.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Dual-Verification Pipeline:</a:t>
            </a:r>
            <a:r>
              <a:rPr lang="en-US" sz="3000" dirty="0">
                <a:latin typeface="Times New Roman" panose="02020603050405020304" pitchFamily="18" charset="0"/>
                <a:cs typeface="Times New Roman" panose="02020603050405020304" pitchFamily="18" charset="0"/>
              </a:rPr>
              <a:t> To implement a structured "Human-in-the-loop" workflow where generated materials are reviewed and verified by faculty before publication.</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Comprehensive Material Suite:</a:t>
            </a:r>
            <a:r>
              <a:rPr lang="en-US" sz="3000" dirty="0">
                <a:latin typeface="Times New Roman" panose="02020603050405020304" pitchFamily="18" charset="0"/>
                <a:cs typeface="Times New Roman" panose="02020603050405020304" pitchFamily="18" charset="0"/>
              </a:rPr>
              <a:t> To provide a complete set of resources, including summaries, short notes, coding examples, Bloom’s Taxonomy questions, and YouTube links.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Plagiarism Detection:</a:t>
            </a:r>
            <a:r>
              <a:rPr lang="en-US" sz="3000" dirty="0">
                <a:latin typeface="Times New Roman" panose="02020603050405020304" pitchFamily="18" charset="0"/>
                <a:cs typeface="Times New Roman" panose="02020603050405020304" pitchFamily="18" charset="0"/>
              </a:rPr>
              <a:t> To ensure the originality and integrity of all AI-generated content using Cosine Similarity metrics.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User-Centric Portals:</a:t>
            </a:r>
            <a:r>
              <a:rPr lang="en-US" sz="3000" dirty="0">
                <a:latin typeface="Times New Roman" panose="02020603050405020304" pitchFamily="18" charset="0"/>
                <a:cs typeface="Times New Roman" panose="02020603050405020304" pitchFamily="18" charset="0"/>
              </a:rPr>
              <a:t> To develop dedicated interfaces for Admins, Faculty, and Students for seamless academic management and learning.</a:t>
            </a:r>
          </a:p>
        </p:txBody>
      </p:sp>
    </p:spTree>
    <p:extLst>
      <p:ext uri="{BB962C8B-B14F-4D97-AF65-F5344CB8AC3E}">
        <p14:creationId xmlns:p14="http://schemas.microsoft.com/office/powerpoint/2010/main" val="186578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6755AE-1A7E-90AC-C188-C4667A1208DC}"/>
              </a:ext>
            </a:extLst>
          </p:cNvPr>
          <p:cNvSpPr txBox="1"/>
          <p:nvPr/>
        </p:nvSpPr>
        <p:spPr>
          <a:xfrm>
            <a:off x="838200" y="266701"/>
            <a:ext cx="13139057" cy="7540526"/>
          </a:xfrm>
          <a:prstGeom prst="rect">
            <a:avLst/>
          </a:prstGeom>
          <a:noFill/>
        </p:spPr>
        <p:txBody>
          <a:bodyPr wrap="square">
            <a:spAutoFit/>
          </a:bodyPr>
          <a:lstStyle/>
          <a:p>
            <a:r>
              <a:rPr lang="en-IN" sz="3200" b="1" dirty="0">
                <a:solidFill>
                  <a:srgbClr val="351C75"/>
                </a:solidFill>
                <a:latin typeface="Times New Roman" panose="02020603050405020304" pitchFamily="18" charset="0"/>
                <a:ea typeface="EB Garamond"/>
                <a:cs typeface="Times New Roman" panose="02020603050405020304" pitchFamily="18" charset="0"/>
                <a:sym typeface="EB Garamond"/>
              </a:rPr>
              <a:t>PROPOSED SYSTEM</a:t>
            </a:r>
          </a:p>
          <a:p>
            <a:endParaRPr lang="en-IN"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Three-Tier Role-Based Portal:</a:t>
            </a:r>
            <a:r>
              <a:rPr lang="en-US" sz="3000" dirty="0">
                <a:latin typeface="Times New Roman" panose="02020603050405020304" pitchFamily="18" charset="0"/>
                <a:cs typeface="Times New Roman" panose="02020603050405020304" pitchFamily="18" charset="0"/>
              </a:rPr>
              <a:t> A comprehensive web architecture with specialized interfaces for Students, Faculty, and Admins.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High-Speed AI Engine:</a:t>
            </a:r>
            <a:r>
              <a:rPr lang="en-US" sz="3000" dirty="0">
                <a:latin typeface="Times New Roman" panose="02020603050405020304" pitchFamily="18" charset="0"/>
                <a:cs typeface="Times New Roman" panose="02020603050405020304" pitchFamily="18" charset="0"/>
              </a:rPr>
              <a:t> Integration of the </a:t>
            </a:r>
            <a:r>
              <a:rPr lang="en-US" sz="3000" dirty="0" err="1">
                <a:latin typeface="Times New Roman" panose="02020603050405020304" pitchFamily="18" charset="0"/>
                <a:cs typeface="Times New Roman" panose="02020603050405020304" pitchFamily="18" charset="0"/>
              </a:rPr>
              <a:t>Groq</a:t>
            </a:r>
            <a:r>
              <a:rPr lang="en-US" sz="3000" dirty="0">
                <a:latin typeface="Times New Roman" panose="02020603050405020304" pitchFamily="18" charset="0"/>
                <a:cs typeface="Times New Roman" panose="02020603050405020304" pitchFamily="18" charset="0"/>
              </a:rPr>
              <a:t> LPU Inference </a:t>
            </a:r>
            <a:r>
              <a:rPr lang="en-US" sz="3000" b="1" dirty="0">
                <a:latin typeface="Times New Roman" panose="02020603050405020304" pitchFamily="18" charset="0"/>
                <a:cs typeface="Times New Roman" panose="02020603050405020304" pitchFamily="18" charset="0"/>
              </a:rPr>
              <a:t>Engine</a:t>
            </a:r>
            <a:r>
              <a:rPr lang="en-US" sz="3000" dirty="0">
                <a:latin typeface="Times New Roman" panose="02020603050405020304" pitchFamily="18" charset="0"/>
                <a:cs typeface="Times New Roman" panose="02020603050405020304" pitchFamily="18" charset="0"/>
              </a:rPr>
              <a:t> and </a:t>
            </a:r>
            <a:r>
              <a:rPr lang="en-US" sz="3000" b="1" dirty="0">
                <a:latin typeface="Times New Roman" panose="02020603050405020304" pitchFamily="18" charset="0"/>
                <a:cs typeface="Times New Roman" panose="02020603050405020304" pitchFamily="18" charset="0"/>
              </a:rPr>
              <a:t>Meta’s Llama-3</a:t>
            </a:r>
            <a:r>
              <a:rPr lang="en-US" sz="3000" dirty="0">
                <a:latin typeface="Times New Roman" panose="02020603050405020304" pitchFamily="18" charset="0"/>
                <a:cs typeface="Times New Roman" panose="02020603050405020304" pitchFamily="18" charset="0"/>
              </a:rPr>
              <a:t> for near-instant generation of high-quality study materials.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Human-in-the-Loop Verification:</a:t>
            </a:r>
            <a:r>
              <a:rPr lang="en-US" sz="3000" dirty="0">
                <a:latin typeface="Times New Roman" panose="02020603050405020304" pitchFamily="18" charset="0"/>
                <a:cs typeface="Times New Roman" panose="02020603050405020304" pitchFamily="18" charset="0"/>
              </a:rPr>
              <a:t> A unique pipeline where generated content is held in a "Pending" state until it is reviewed, edited, or approved by subject-matter experts (Faculty).</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Automated Feedback Loop:</a:t>
            </a:r>
            <a:r>
              <a:rPr lang="en-US" sz="3000" dirty="0">
                <a:latin typeface="Times New Roman" panose="02020603050405020304" pitchFamily="18" charset="0"/>
                <a:cs typeface="Times New Roman" panose="02020603050405020304" pitchFamily="18" charset="0"/>
              </a:rPr>
              <a:t> If a resource is rejected by faculty, the system automatically triggers AI regeneration using the faculty's feedback as context.</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Integrity &amp; Quality Control:</a:t>
            </a:r>
            <a:r>
              <a:rPr lang="en-US" sz="3000" dirty="0">
                <a:latin typeface="Times New Roman" panose="02020603050405020304" pitchFamily="18" charset="0"/>
                <a:cs typeface="Times New Roman" panose="02020603050405020304" pitchFamily="18" charset="0"/>
              </a:rPr>
              <a:t> Real-time Plagiarism Detection (Cosine Similarity) and multi-level assessment generation (Bloom's Taxonomy).</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Dynamic Notification System:</a:t>
            </a:r>
            <a:r>
              <a:rPr lang="en-US" sz="3000" dirty="0">
                <a:latin typeface="Times New Roman" panose="02020603050405020304" pitchFamily="18" charset="0"/>
                <a:cs typeface="Times New Roman" panose="02020603050405020304" pitchFamily="18" charset="0"/>
              </a:rPr>
              <a:t> Automated broadcasting of new verified materials via SMTP Email alerts and in-app notifications.</a:t>
            </a:r>
          </a:p>
        </p:txBody>
      </p:sp>
    </p:spTree>
    <p:extLst>
      <p:ext uri="{BB962C8B-B14F-4D97-AF65-F5344CB8AC3E}">
        <p14:creationId xmlns:p14="http://schemas.microsoft.com/office/powerpoint/2010/main" val="393704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DB40D7-0260-7487-37E2-C2B8F2537627}"/>
              </a:ext>
            </a:extLst>
          </p:cNvPr>
          <p:cNvSpPr txBox="1"/>
          <p:nvPr/>
        </p:nvSpPr>
        <p:spPr>
          <a:xfrm>
            <a:off x="726648" y="898145"/>
            <a:ext cx="9385540" cy="523220"/>
          </a:xfrm>
          <a:prstGeom prst="rect">
            <a:avLst/>
          </a:prstGeom>
          <a:noFill/>
        </p:spPr>
        <p:txBody>
          <a:bodyPr wrap="square">
            <a:spAutoFit/>
          </a:bodyPr>
          <a:lstStyle/>
          <a:p>
            <a:r>
              <a:rPr lang="en-IN" sz="2800" b="1" dirty="0">
                <a:solidFill>
                  <a:srgbClr val="351C75"/>
                </a:solidFill>
                <a:latin typeface="Times New Roman" panose="02020603050405020304" pitchFamily="18" charset="0"/>
                <a:ea typeface="EB Garamond"/>
                <a:cs typeface="Times New Roman" panose="02020603050405020304" pitchFamily="18" charset="0"/>
                <a:sym typeface="EB Garamond"/>
              </a:rPr>
              <a:t>EXISTING SYSTTEM  VS  PROPOSED SYSTEM</a:t>
            </a:r>
            <a:endParaRPr lang="en-IN" sz="2800" dirty="0"/>
          </a:p>
        </p:txBody>
      </p:sp>
      <p:graphicFrame>
        <p:nvGraphicFramePr>
          <p:cNvPr id="2" name="Table 1">
            <a:extLst>
              <a:ext uri="{FF2B5EF4-FFF2-40B4-BE49-F238E27FC236}">
                <a16:creationId xmlns:a16="http://schemas.microsoft.com/office/drawing/2014/main" id="{3501F760-D336-D554-10FF-AA37CF5E4B7D}"/>
              </a:ext>
            </a:extLst>
          </p:cNvPr>
          <p:cNvGraphicFramePr>
            <a:graphicFrameLocks noGrp="1"/>
          </p:cNvGraphicFramePr>
          <p:nvPr>
            <p:extLst>
              <p:ext uri="{D42A27DB-BD31-4B8C-83A1-F6EECF244321}">
                <p14:modId xmlns:p14="http://schemas.microsoft.com/office/powerpoint/2010/main" val="2775016454"/>
              </p:ext>
            </p:extLst>
          </p:nvPr>
        </p:nvGraphicFramePr>
        <p:xfrm>
          <a:off x="901700" y="1549401"/>
          <a:ext cx="12318999" cy="6413891"/>
        </p:xfrm>
        <a:graphic>
          <a:graphicData uri="http://schemas.openxmlformats.org/drawingml/2006/table">
            <a:tbl>
              <a:tblPr>
                <a:tableStyleId>{BC89EF96-8CEA-46FF-86C4-4CE0E7609802}</a:tableStyleId>
              </a:tblPr>
              <a:tblGrid>
                <a:gridCol w="4106333">
                  <a:extLst>
                    <a:ext uri="{9D8B030D-6E8A-4147-A177-3AD203B41FA5}">
                      <a16:colId xmlns:a16="http://schemas.microsoft.com/office/drawing/2014/main" val="2326947882"/>
                    </a:ext>
                  </a:extLst>
                </a:gridCol>
                <a:gridCol w="4106333">
                  <a:extLst>
                    <a:ext uri="{9D8B030D-6E8A-4147-A177-3AD203B41FA5}">
                      <a16:colId xmlns:a16="http://schemas.microsoft.com/office/drawing/2014/main" val="258778092"/>
                    </a:ext>
                  </a:extLst>
                </a:gridCol>
                <a:gridCol w="4106333">
                  <a:extLst>
                    <a:ext uri="{9D8B030D-6E8A-4147-A177-3AD203B41FA5}">
                      <a16:colId xmlns:a16="http://schemas.microsoft.com/office/drawing/2014/main" val="2492128170"/>
                    </a:ext>
                  </a:extLst>
                </a:gridCol>
              </a:tblGrid>
              <a:tr h="607561">
                <a:tc>
                  <a:txBody>
                    <a:bodyPr/>
                    <a:lstStyle/>
                    <a:p>
                      <a:pPr algn="l">
                        <a:buNone/>
                      </a:pPr>
                      <a:r>
                        <a:rPr lang="en-IN" sz="2000" b="1" dirty="0">
                          <a:effectLst/>
                          <a:latin typeface="Times New Roman" panose="02020603050405020304" pitchFamily="18" charset="0"/>
                          <a:cs typeface="Times New Roman" panose="02020603050405020304" pitchFamily="18" charset="0"/>
                        </a:rPr>
                        <a:t>Existing System</a:t>
                      </a:r>
                    </a:p>
                  </a:txBody>
                  <a:tcPr marL="63986" marR="63986" marT="31993" marB="31993" anchor="ctr"/>
                </a:tc>
                <a:tc>
                  <a:txBody>
                    <a:bodyPr/>
                    <a:lstStyle/>
                    <a:p>
                      <a:pPr algn="l">
                        <a:buNone/>
                      </a:pPr>
                      <a:r>
                        <a:rPr lang="en-IN" sz="2000" b="1">
                          <a:effectLst/>
                          <a:latin typeface="Times New Roman" panose="02020603050405020304" pitchFamily="18" charset="0"/>
                          <a:cs typeface="Times New Roman" panose="02020603050405020304" pitchFamily="18" charset="0"/>
                        </a:rPr>
                        <a:t>Limitation</a:t>
                      </a:r>
                    </a:p>
                  </a:txBody>
                  <a:tcPr marL="63986" marR="63986" marT="31993" marB="31993" anchor="ctr"/>
                </a:tc>
                <a:tc>
                  <a:txBody>
                    <a:bodyPr/>
                    <a:lstStyle/>
                    <a:p>
                      <a:pPr algn="l">
                        <a:buNone/>
                      </a:pPr>
                      <a:r>
                        <a:rPr lang="en-IN" sz="2000" b="1" dirty="0">
                          <a:effectLst/>
                          <a:latin typeface="Times New Roman" panose="02020603050405020304" pitchFamily="18" charset="0"/>
                          <a:cs typeface="Times New Roman" panose="02020603050405020304" pitchFamily="18" charset="0"/>
                        </a:rPr>
                        <a:t>Proposed  System</a:t>
                      </a:r>
                    </a:p>
                  </a:txBody>
                  <a:tcPr marL="63986" marR="63986" marT="31993" marB="31993" anchor="ctr"/>
                </a:tc>
                <a:extLst>
                  <a:ext uri="{0D108BD9-81ED-4DB2-BD59-A6C34878D82A}">
                    <a16:rowId xmlns:a16="http://schemas.microsoft.com/office/drawing/2014/main" val="3963908143"/>
                  </a:ext>
                </a:extLst>
              </a:tr>
              <a:tr h="681029">
                <a:tc>
                  <a:txBody>
                    <a:bodyPr/>
                    <a:lstStyle/>
                    <a:p>
                      <a:pPr algn="l">
                        <a:buNone/>
                      </a:pPr>
                      <a:r>
                        <a:rPr lang="en-IN" sz="2000" b="1">
                          <a:effectLst/>
                          <a:latin typeface="Times New Roman" panose="02020603050405020304" pitchFamily="18" charset="0"/>
                          <a:cs typeface="Times New Roman" panose="02020603050405020304" pitchFamily="18" charset="0"/>
                        </a:rPr>
                        <a:t>Generative AI (ChatGPT/Gemini)</a:t>
                      </a:r>
                      <a:endParaRPr lang="en-IN" sz="2000">
                        <a:effectLst/>
                        <a:latin typeface="Times New Roman" panose="02020603050405020304" pitchFamily="18" charset="0"/>
                        <a:cs typeface="Times New Roman" panose="02020603050405020304" pitchFamily="18" charset="0"/>
                      </a:endParaRPr>
                    </a:p>
                  </a:txBody>
                  <a:tcPr marL="63986" marR="63986" marT="31993" marB="31993" anchor="ctr"/>
                </a:tc>
                <a:tc>
                  <a:txBody>
                    <a:bodyPr/>
                    <a:lstStyle/>
                    <a:p>
                      <a:pPr algn="l">
                        <a:buNone/>
                      </a:pPr>
                      <a:r>
                        <a:rPr lang="en-US" sz="2000">
                          <a:effectLst/>
                          <a:latin typeface="Times New Roman" panose="02020603050405020304" pitchFamily="18" charset="0"/>
                          <a:cs typeface="Times New Roman" panose="02020603050405020304" pitchFamily="18" charset="0"/>
                        </a:rPr>
                        <a:t>General-purpose; lacks syllabus specificity and Anna University (AU) format.</a:t>
                      </a: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Context-Aware AI:</a:t>
                      </a:r>
                      <a:r>
                        <a:rPr lang="en-US" sz="2000" dirty="0">
                          <a:effectLst/>
                          <a:latin typeface="Times New Roman" panose="02020603050405020304" pitchFamily="18" charset="0"/>
                          <a:cs typeface="Times New Roman" panose="02020603050405020304" pitchFamily="18" charset="0"/>
                        </a:rPr>
                        <a:t>  Custom prompts engineered for specific AU patterns and Bloom’s Taxonomy.</a:t>
                      </a:r>
                    </a:p>
                  </a:txBody>
                  <a:tcPr marL="63986" marR="63986" marT="31993" marB="31993" anchor="ctr"/>
                </a:tc>
                <a:extLst>
                  <a:ext uri="{0D108BD9-81ED-4DB2-BD59-A6C34878D82A}">
                    <a16:rowId xmlns:a16="http://schemas.microsoft.com/office/drawing/2014/main" val="3468420253"/>
                  </a:ext>
                </a:extLst>
              </a:tr>
              <a:tr h="888801">
                <a:tc>
                  <a:txBody>
                    <a:bodyPr/>
                    <a:lstStyle/>
                    <a:p>
                      <a:pPr algn="l">
                        <a:buNone/>
                      </a:pPr>
                      <a:r>
                        <a:rPr lang="en-IN" sz="2000" b="1" dirty="0">
                          <a:effectLst/>
                          <a:latin typeface="Times New Roman" panose="02020603050405020304" pitchFamily="18" charset="0"/>
                          <a:cs typeface="Times New Roman" panose="02020603050405020304" pitchFamily="18" charset="0"/>
                        </a:rPr>
                        <a:t>University Portals</a:t>
                      </a:r>
                      <a:endParaRPr lang="en-IN" sz="2000" dirty="0">
                        <a:effectLst/>
                        <a:latin typeface="Times New Roman" panose="02020603050405020304" pitchFamily="18" charset="0"/>
                        <a:cs typeface="Times New Roman" panose="02020603050405020304" pitchFamily="18" charset="0"/>
                      </a:endParaRPr>
                    </a:p>
                  </a:txBody>
                  <a:tcPr marL="63986" marR="63986" marT="31993" marB="31993" anchor="ctr"/>
                </a:tc>
                <a:tc>
                  <a:txBody>
                    <a:bodyPr/>
                    <a:lstStyle/>
                    <a:p>
                      <a:pPr algn="l">
                        <a:buNone/>
                      </a:pPr>
                      <a:r>
                        <a:rPr lang="en-US" sz="2000" dirty="0">
                          <a:effectLst/>
                          <a:latin typeface="Times New Roman" panose="02020603050405020304" pitchFamily="18" charset="0"/>
                          <a:cs typeface="Times New Roman" panose="02020603050405020304" pitchFamily="18" charset="0"/>
                        </a:rPr>
                        <a:t>Static repositories</a:t>
                      </a: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Dynamic Generation:</a:t>
                      </a:r>
                      <a:r>
                        <a:rPr lang="en-US" sz="2000" dirty="0">
                          <a:effectLst/>
                          <a:latin typeface="Times New Roman" panose="02020603050405020304" pitchFamily="18" charset="0"/>
                          <a:cs typeface="Times New Roman" panose="02020603050405020304" pitchFamily="18" charset="0"/>
                        </a:rPr>
                        <a:t>  Full suite of notes, MCQs, coding examples, and Part-A/B/C questions generated on-demand.</a:t>
                      </a:r>
                    </a:p>
                  </a:txBody>
                  <a:tcPr marL="63986" marR="63986" marT="31993" marB="31993" anchor="ctr"/>
                </a:tc>
                <a:extLst>
                  <a:ext uri="{0D108BD9-81ED-4DB2-BD59-A6C34878D82A}">
                    <a16:rowId xmlns:a16="http://schemas.microsoft.com/office/drawing/2014/main" val="442104634"/>
                  </a:ext>
                </a:extLst>
              </a:tr>
              <a:tr h="888801">
                <a:tc>
                  <a:txBody>
                    <a:bodyPr/>
                    <a:lstStyle/>
                    <a:p>
                      <a:pPr algn="l">
                        <a:buNone/>
                      </a:pPr>
                      <a:r>
                        <a:rPr lang="en-IN" sz="2000" b="1" dirty="0">
                          <a:effectLst/>
                          <a:latin typeface="Times New Roman" panose="02020603050405020304" pitchFamily="18" charset="0"/>
                          <a:cs typeface="Times New Roman" panose="02020603050405020304" pitchFamily="18" charset="0"/>
                        </a:rPr>
                        <a:t>Online Learning (YouTube)</a:t>
                      </a:r>
                      <a:endParaRPr lang="en-IN" sz="2000" dirty="0">
                        <a:effectLst/>
                        <a:latin typeface="Times New Roman" panose="02020603050405020304" pitchFamily="18" charset="0"/>
                        <a:cs typeface="Times New Roman" panose="02020603050405020304" pitchFamily="18" charset="0"/>
                      </a:endParaRPr>
                    </a:p>
                  </a:txBody>
                  <a:tcPr marL="63986" marR="63986" marT="31993" marB="31993" anchor="ctr"/>
                </a:tc>
                <a:tc>
                  <a:txBody>
                    <a:bodyPr/>
                    <a:lstStyle/>
                    <a:p>
                      <a:pPr algn="l">
                        <a:buNone/>
                      </a:pPr>
                      <a:r>
                        <a:rPr lang="en-US" sz="2000" dirty="0">
                          <a:effectLst/>
                          <a:latin typeface="Times New Roman" panose="02020603050405020304" pitchFamily="18" charset="0"/>
                          <a:cs typeface="Times New Roman" panose="02020603050405020304" pitchFamily="18" charset="0"/>
                        </a:rPr>
                        <a:t>Passive video content; no structured textual notes or self-assessment.</a:t>
                      </a: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Integrated Resource Hub:</a:t>
                      </a:r>
                      <a:r>
                        <a:rPr lang="en-US" sz="2000" dirty="0">
                          <a:effectLst/>
                          <a:latin typeface="Times New Roman" panose="02020603050405020304" pitchFamily="18" charset="0"/>
                          <a:cs typeface="Times New Roman" panose="02020603050405020304" pitchFamily="18" charset="0"/>
                        </a:rPr>
                        <a:t> Structured text, YouTube link mapping, and interactive MCQs in one platform.</a:t>
                      </a:r>
                    </a:p>
                  </a:txBody>
                  <a:tcPr marL="63986" marR="63986" marT="31993" marB="31993" anchor="ctr"/>
                </a:tc>
                <a:extLst>
                  <a:ext uri="{0D108BD9-81ED-4DB2-BD59-A6C34878D82A}">
                    <a16:rowId xmlns:a16="http://schemas.microsoft.com/office/drawing/2014/main" val="3214251420"/>
                  </a:ext>
                </a:extLst>
              </a:tr>
              <a:tr h="888801">
                <a:tc>
                  <a:txBody>
                    <a:bodyPr/>
                    <a:lstStyle/>
                    <a:p>
                      <a:pPr algn="l">
                        <a:buNone/>
                      </a:pPr>
                      <a:r>
                        <a:rPr lang="en-IN" sz="2000" b="1">
                          <a:effectLst/>
                          <a:latin typeface="Times New Roman" panose="02020603050405020304" pitchFamily="18" charset="0"/>
                          <a:cs typeface="Times New Roman" panose="02020603050405020304" pitchFamily="18" charset="0"/>
                        </a:rPr>
                        <a:t>Manual Faculty Notes</a:t>
                      </a:r>
                      <a:endParaRPr lang="en-IN" sz="2000">
                        <a:effectLst/>
                        <a:latin typeface="Times New Roman" panose="02020603050405020304" pitchFamily="18" charset="0"/>
                        <a:cs typeface="Times New Roman" panose="02020603050405020304" pitchFamily="18" charset="0"/>
                      </a:endParaRPr>
                    </a:p>
                  </a:txBody>
                  <a:tcPr marL="63986" marR="63986" marT="31993" marB="31993" anchor="ctr"/>
                </a:tc>
                <a:tc>
                  <a:txBody>
                    <a:bodyPr/>
                    <a:lstStyle/>
                    <a:p>
                      <a:pPr algn="l">
                        <a:buNone/>
                      </a:pPr>
                      <a:r>
                        <a:rPr lang="en-US" sz="2000">
                          <a:effectLst/>
                          <a:latin typeface="Times New Roman" panose="02020603050405020304" pitchFamily="18" charset="0"/>
                          <a:cs typeface="Times New Roman" panose="02020603050405020304" pitchFamily="18" charset="0"/>
                        </a:rPr>
                        <a:t>Rigid and difficult to update; lacks personalization for different student needs.</a:t>
                      </a: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Topic-Specific Delivery:</a:t>
                      </a:r>
                      <a:r>
                        <a:rPr lang="en-US" sz="2000" dirty="0">
                          <a:effectLst/>
                          <a:latin typeface="Times New Roman" panose="02020603050405020304" pitchFamily="18" charset="0"/>
                          <a:cs typeface="Times New Roman" panose="02020603050405020304" pitchFamily="18" charset="0"/>
                        </a:rPr>
                        <a:t> Personalized materials generated and delivered instantly based on student topic requests.</a:t>
                      </a:r>
                    </a:p>
                  </a:txBody>
                  <a:tcPr marL="63986" marR="63986" marT="31993" marB="31993" anchor="ctr"/>
                </a:tc>
                <a:extLst>
                  <a:ext uri="{0D108BD9-81ED-4DB2-BD59-A6C34878D82A}">
                    <a16:rowId xmlns:a16="http://schemas.microsoft.com/office/drawing/2014/main" val="1361713332"/>
                  </a:ext>
                </a:extLst>
              </a:tr>
              <a:tr h="744008">
                <a:tc>
                  <a:txBody>
                    <a:bodyPr/>
                    <a:lstStyle/>
                    <a:p>
                      <a:pPr algn="l">
                        <a:buNone/>
                      </a:pPr>
                      <a:r>
                        <a:rPr lang="en-IN" sz="2000" b="1">
                          <a:effectLst/>
                          <a:latin typeface="Times New Roman" panose="02020603050405020304" pitchFamily="18" charset="0"/>
                          <a:cs typeface="Times New Roman" panose="02020603050405020304" pitchFamily="18" charset="0"/>
                        </a:rPr>
                        <a:t>Generic AI Tools</a:t>
                      </a:r>
                      <a:endParaRPr lang="en-IN" sz="2000">
                        <a:effectLst/>
                        <a:latin typeface="Times New Roman" panose="02020603050405020304" pitchFamily="18" charset="0"/>
                        <a:cs typeface="Times New Roman" panose="02020603050405020304" pitchFamily="18" charset="0"/>
                      </a:endParaRP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No quality gate;</a:t>
                      </a:r>
                      <a:r>
                        <a:rPr lang="en-US" sz="2000" dirty="0">
                          <a:effectLst/>
                          <a:latin typeface="Times New Roman" panose="02020603050405020304" pitchFamily="18" charset="0"/>
                          <a:cs typeface="Times New Roman" panose="02020603050405020304" pitchFamily="18" charset="0"/>
                        </a:rPr>
                        <a:t> prone to "hallucinations" or incorrect academic data.</a:t>
                      </a:r>
                    </a:p>
                  </a:txBody>
                  <a:tcPr marL="63986" marR="63986" marT="31993" marB="31993" anchor="ctr"/>
                </a:tc>
                <a:tc>
                  <a:txBody>
                    <a:bodyPr/>
                    <a:lstStyle/>
                    <a:p>
                      <a:pPr algn="l">
                        <a:buNone/>
                      </a:pPr>
                      <a:r>
                        <a:rPr lang="en-US" sz="2000" b="1" dirty="0">
                          <a:effectLst/>
                          <a:latin typeface="Times New Roman" panose="02020603050405020304" pitchFamily="18" charset="0"/>
                          <a:cs typeface="Times New Roman" panose="02020603050405020304" pitchFamily="18" charset="0"/>
                        </a:rPr>
                        <a:t>Human-in-the-Loop Verification:</a:t>
                      </a:r>
                      <a:r>
                        <a:rPr lang="en-US" sz="2000" dirty="0">
                          <a:effectLst/>
                          <a:latin typeface="Times New Roman" panose="02020603050405020304" pitchFamily="18" charset="0"/>
                          <a:cs typeface="Times New Roman" panose="02020603050405020304" pitchFamily="18" charset="0"/>
                        </a:rPr>
                        <a:t> A mandatory Faculty review and edit pipeline to ensure 100% academic accuracy.</a:t>
                      </a:r>
                    </a:p>
                  </a:txBody>
                  <a:tcPr marL="63986" marR="63986" marT="31993" marB="31993" anchor="ctr"/>
                </a:tc>
                <a:extLst>
                  <a:ext uri="{0D108BD9-81ED-4DB2-BD59-A6C34878D82A}">
                    <a16:rowId xmlns:a16="http://schemas.microsoft.com/office/drawing/2014/main" val="1610114180"/>
                  </a:ext>
                </a:extLst>
              </a:tr>
            </a:tbl>
          </a:graphicData>
        </a:graphic>
      </p:graphicFrame>
    </p:spTree>
    <p:extLst>
      <p:ext uri="{BB962C8B-B14F-4D97-AF65-F5344CB8AC3E}">
        <p14:creationId xmlns:p14="http://schemas.microsoft.com/office/powerpoint/2010/main" val="1040531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7E599244-23E8-47DE-5574-2DFCCA7F54F2}"/>
            </a:ext>
          </a:extLst>
        </p:cNvPr>
        <p:cNvGrpSpPr/>
        <p:nvPr/>
      </p:nvGrpSpPr>
      <p:grpSpPr>
        <a:xfrm>
          <a:off x="0" y="0"/>
          <a:ext cx="0" cy="0"/>
          <a:chOff x="0" y="0"/>
          <a:chExt cx="0" cy="0"/>
        </a:xfrm>
      </p:grpSpPr>
      <p:sp>
        <p:nvSpPr>
          <p:cNvPr id="70" name="Google Shape;70;p3">
            <a:extLst>
              <a:ext uri="{FF2B5EF4-FFF2-40B4-BE49-F238E27FC236}">
                <a16:creationId xmlns:a16="http://schemas.microsoft.com/office/drawing/2014/main" id="{B9982417-F944-19FC-EA01-A17424039DFF}"/>
              </a:ext>
            </a:extLst>
          </p:cNvPr>
          <p:cNvSpPr/>
          <p:nvPr/>
        </p:nvSpPr>
        <p:spPr>
          <a:xfrm>
            <a:off x="914401" y="802936"/>
            <a:ext cx="9753599" cy="82864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231971"/>
              </a:buClr>
              <a:buSzPts val="3550"/>
              <a:buFont typeface="Outfit ExtraBold"/>
              <a:buNone/>
            </a:pPr>
            <a:r>
              <a:rPr lang="en-US" sz="3600" b="1" dirty="0">
                <a:solidFill>
                  <a:srgbClr val="231971"/>
                </a:solidFill>
                <a:latin typeface="Times New Roman" panose="02020603050405020304" pitchFamily="18" charset="0"/>
                <a:ea typeface="Outfit ExtraBold"/>
                <a:cs typeface="Times New Roman" panose="02020603050405020304" pitchFamily="18" charset="0"/>
                <a:sym typeface="Outfit ExtraBold"/>
              </a:rPr>
              <a:t>LITERATURE SURVEY</a:t>
            </a:r>
            <a:endParaRPr lang="en-US" sz="36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6" name="Google Shape;76;p3">
            <a:extLst>
              <a:ext uri="{FF2B5EF4-FFF2-40B4-BE49-F238E27FC236}">
                <a16:creationId xmlns:a16="http://schemas.microsoft.com/office/drawing/2014/main" id="{6B85A5BD-4213-CC8C-8759-1F3D5B1E2BB0}"/>
              </a:ext>
            </a:extLst>
          </p:cNvPr>
          <p:cNvSpPr/>
          <p:nvPr/>
        </p:nvSpPr>
        <p:spPr>
          <a:xfrm>
            <a:off x="446118" y="1877722"/>
            <a:ext cx="13225063" cy="5548942"/>
          </a:xfrm>
          <a:prstGeom prst="rect">
            <a:avLst/>
          </a:prstGeom>
          <a:noFill/>
          <a:ln>
            <a:noFill/>
          </a:ln>
        </p:spPr>
        <p:txBody>
          <a:bodyPr spcFirstLastPara="1" wrap="square" lIns="0" tIns="0" rIns="0" bIns="0" anchor="t" anchorCtr="0">
            <a:noAutofit/>
          </a:bodyPr>
          <a:lstStyle/>
          <a:p>
            <a:pPr marL="0" marR="0" lvl="0" indent="0" algn="just" rtl="0">
              <a:lnSpc>
                <a:spcPct val="160714"/>
              </a:lnSpc>
              <a:spcBef>
                <a:spcPts val="0"/>
              </a:spcBef>
              <a:spcAft>
                <a:spcPts val="0"/>
              </a:spcAft>
              <a:buClr>
                <a:srgbClr val="2A2742"/>
              </a:buClr>
              <a:buSzPts val="1400"/>
              <a:buFont typeface="Arimo"/>
              <a:buNone/>
            </a:pPr>
            <a:endParaRPr sz="1700" b="0" i="0" u="none" strike="noStrike" cap="none" dirty="0">
              <a:solidFill>
                <a:srgbClr val="000000"/>
              </a:solidFill>
              <a:latin typeface="EB Garamond"/>
              <a:ea typeface="EB Garamond"/>
              <a:cs typeface="EB Garamond"/>
              <a:sym typeface="EB Garamond"/>
            </a:endParaRPr>
          </a:p>
        </p:txBody>
      </p:sp>
      <p:sp>
        <p:nvSpPr>
          <p:cNvPr id="4" name="TextBox 3">
            <a:extLst>
              <a:ext uri="{FF2B5EF4-FFF2-40B4-BE49-F238E27FC236}">
                <a16:creationId xmlns:a16="http://schemas.microsoft.com/office/drawing/2014/main" id="{B7DD04AA-8B62-C19A-6F39-3AE59A1DD93F}"/>
              </a:ext>
            </a:extLst>
          </p:cNvPr>
          <p:cNvSpPr txBox="1"/>
          <p:nvPr/>
        </p:nvSpPr>
        <p:spPr>
          <a:xfrm>
            <a:off x="715108" y="1507253"/>
            <a:ext cx="12956073" cy="4585871"/>
          </a:xfrm>
          <a:prstGeom prst="rect">
            <a:avLst/>
          </a:prstGeom>
          <a:noFill/>
        </p:spPr>
        <p:txBody>
          <a:bodyPr wrap="square">
            <a:spAutoFit/>
          </a:bodyPr>
          <a:lstStyle/>
          <a:p>
            <a:pPr algn="just"/>
            <a:r>
              <a:rPr lang="en-IN" sz="2800" dirty="0"/>
              <a:t>      </a:t>
            </a:r>
            <a:r>
              <a:rPr lang="en-IN" sz="3200" dirty="0">
                <a:latin typeface="Times New Roman" panose="02020603050405020304" pitchFamily="18" charset="0"/>
                <a:cs typeface="Times New Roman" panose="02020603050405020304" pitchFamily="18" charset="0"/>
              </a:rPr>
              <a:t>Recent IEEE studies highlight the growing role of Generative AI in education, particularly in personalized learning and automated content </a:t>
            </a:r>
            <a:r>
              <a:rPr lang="en-IN" sz="3200" dirty="0" err="1">
                <a:latin typeface="Times New Roman" panose="02020603050405020304" pitchFamily="18" charset="0"/>
                <a:cs typeface="Times New Roman" panose="02020603050405020304" pitchFamily="18" charset="0"/>
              </a:rPr>
              <a:t>generation.Existing</a:t>
            </a:r>
            <a:r>
              <a:rPr lang="en-IN" sz="3200" dirty="0">
                <a:latin typeface="Times New Roman" panose="02020603050405020304" pitchFamily="18" charset="0"/>
                <a:cs typeface="Times New Roman" panose="02020603050405020304" pitchFamily="18" charset="0"/>
              </a:rPr>
              <a:t> research demonstrates that generative AI improves learner engagement and reduces faculty workload by generating dynamic educational </a:t>
            </a:r>
            <a:r>
              <a:rPr lang="en-IN" sz="3200" dirty="0" err="1">
                <a:latin typeface="Times New Roman" panose="02020603050405020304" pitchFamily="18" charset="0"/>
                <a:cs typeface="Times New Roman" panose="02020603050405020304" pitchFamily="18" charset="0"/>
              </a:rPr>
              <a:t>resources.However</a:t>
            </a:r>
            <a:r>
              <a:rPr lang="en-IN" sz="3200" dirty="0">
                <a:latin typeface="Times New Roman" panose="02020603050405020304" pitchFamily="18" charset="0"/>
                <a:cs typeface="Times New Roman" panose="02020603050405020304" pitchFamily="18" charset="0"/>
              </a:rPr>
              <a:t>, most systems are review-based or conceptual and lack syllabus alignment, Bloom’s Taxonomy integration, and structured academic </a:t>
            </a:r>
            <a:r>
              <a:rPr lang="en-IN" sz="3200" dirty="0" err="1">
                <a:latin typeface="Times New Roman" panose="02020603050405020304" pitchFamily="18" charset="0"/>
                <a:cs typeface="Times New Roman" panose="02020603050405020304" pitchFamily="18" charset="0"/>
              </a:rPr>
              <a:t>formatting.These</a:t>
            </a:r>
            <a:r>
              <a:rPr lang="en-IN" sz="3200" dirty="0">
                <a:latin typeface="Times New Roman" panose="02020603050405020304" pitchFamily="18" charset="0"/>
                <a:cs typeface="Times New Roman" panose="02020603050405020304" pitchFamily="18" charset="0"/>
              </a:rPr>
              <a:t> limitations motivate the proposed system, which focuses on curriculum-oriented and exam-ready study material generation.</a:t>
            </a:r>
          </a:p>
          <a:p>
            <a:endParaRPr lang="en-IN" dirty="0"/>
          </a:p>
          <a:p>
            <a:endParaRPr lang="en-IN" dirty="0"/>
          </a:p>
        </p:txBody>
      </p:sp>
    </p:spTree>
    <p:extLst>
      <p:ext uri="{BB962C8B-B14F-4D97-AF65-F5344CB8AC3E}">
        <p14:creationId xmlns:p14="http://schemas.microsoft.com/office/powerpoint/2010/main" val="729172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809FC69-9739-E909-787B-028808E9054C}"/>
              </a:ext>
            </a:extLst>
          </p:cNvPr>
          <p:cNvGraphicFramePr>
            <a:graphicFrameLocks noGrp="1"/>
          </p:cNvGraphicFramePr>
          <p:nvPr/>
        </p:nvGraphicFramePr>
        <p:xfrm>
          <a:off x="376813" y="281354"/>
          <a:ext cx="13876774" cy="7253201"/>
        </p:xfrm>
        <a:graphic>
          <a:graphicData uri="http://schemas.openxmlformats.org/drawingml/2006/table">
            <a:tbl>
              <a:tblPr firstRow="1" bandRow="1">
                <a:tableStyleId>{5C22544A-7EE6-4342-B048-85BDC9FD1C3A}</a:tableStyleId>
              </a:tblPr>
              <a:tblGrid>
                <a:gridCol w="2451292">
                  <a:extLst>
                    <a:ext uri="{9D8B030D-6E8A-4147-A177-3AD203B41FA5}">
                      <a16:colId xmlns:a16="http://schemas.microsoft.com/office/drawing/2014/main" val="2285216208"/>
                    </a:ext>
                  </a:extLst>
                </a:gridCol>
                <a:gridCol w="2139154">
                  <a:extLst>
                    <a:ext uri="{9D8B030D-6E8A-4147-A177-3AD203B41FA5}">
                      <a16:colId xmlns:a16="http://schemas.microsoft.com/office/drawing/2014/main" val="3490774969"/>
                    </a:ext>
                  </a:extLst>
                </a:gridCol>
                <a:gridCol w="1749307">
                  <a:extLst>
                    <a:ext uri="{9D8B030D-6E8A-4147-A177-3AD203B41FA5}">
                      <a16:colId xmlns:a16="http://schemas.microsoft.com/office/drawing/2014/main" val="1290115960"/>
                    </a:ext>
                  </a:extLst>
                </a:gridCol>
                <a:gridCol w="2928841">
                  <a:extLst>
                    <a:ext uri="{9D8B030D-6E8A-4147-A177-3AD203B41FA5}">
                      <a16:colId xmlns:a16="http://schemas.microsoft.com/office/drawing/2014/main" val="1265079358"/>
                    </a:ext>
                  </a:extLst>
                </a:gridCol>
                <a:gridCol w="2429040">
                  <a:extLst>
                    <a:ext uri="{9D8B030D-6E8A-4147-A177-3AD203B41FA5}">
                      <a16:colId xmlns:a16="http://schemas.microsoft.com/office/drawing/2014/main" val="2659224346"/>
                    </a:ext>
                  </a:extLst>
                </a:gridCol>
                <a:gridCol w="2179140">
                  <a:extLst>
                    <a:ext uri="{9D8B030D-6E8A-4147-A177-3AD203B41FA5}">
                      <a16:colId xmlns:a16="http://schemas.microsoft.com/office/drawing/2014/main" val="1354489071"/>
                    </a:ext>
                  </a:extLst>
                </a:gridCol>
              </a:tblGrid>
              <a:tr h="986017">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Author Name</a:t>
                      </a:r>
                    </a:p>
                    <a:p>
                      <a:endParaRPr lang="en-IN" dirty="0"/>
                    </a:p>
                  </a:txBody>
                  <a:tcPr/>
                </a:tc>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Title</a:t>
                      </a:r>
                      <a:endParaRPr lang="en-IN" dirty="0"/>
                    </a:p>
                    <a:p>
                      <a:endParaRPr lang="en-IN" dirty="0"/>
                    </a:p>
                  </a:txBody>
                  <a:tcPr/>
                </a:tc>
                <a:tc>
                  <a:txBody>
                    <a:bodyPr/>
                    <a:lstStyle/>
                    <a:p>
                      <a:r>
                        <a:rPr lang="en-US" dirty="0"/>
                        <a:t>Year and</a:t>
                      </a:r>
                    </a:p>
                    <a:p>
                      <a:r>
                        <a:rPr lang="en-US" dirty="0"/>
                        <a:t>Publisher</a:t>
                      </a:r>
                    </a:p>
                    <a:p>
                      <a:endParaRPr lang="en-IN" dirty="0"/>
                    </a:p>
                  </a:txBody>
                  <a:tcPr/>
                </a:tc>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Limitation</a:t>
                      </a:r>
                      <a:endParaRPr lang="en-IN" dirty="0"/>
                    </a:p>
                    <a:p>
                      <a:endParaRPr lang="en-IN" dirty="0"/>
                    </a:p>
                  </a:txBody>
                  <a:tcPr/>
                </a:tc>
                <a:tc>
                  <a:txBody>
                    <a:bodyPr/>
                    <a:lstStyle/>
                    <a:p>
                      <a:r>
                        <a:rPr lang="en-US" dirty="0"/>
                        <a:t>Future</a:t>
                      </a:r>
                    </a:p>
                    <a:p>
                      <a:r>
                        <a:rPr lang="en-US" dirty="0"/>
                        <a:t>Scope</a:t>
                      </a:r>
                    </a:p>
                    <a:p>
                      <a:endParaRPr lang="en-IN" dirty="0"/>
                    </a:p>
                  </a:txBody>
                  <a:tcPr/>
                </a:tc>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Achievement</a:t>
                      </a:r>
                      <a:endParaRPr lang="en-IN" dirty="0"/>
                    </a:p>
                    <a:p>
                      <a:endParaRPr lang="en-IN" dirty="0"/>
                    </a:p>
                  </a:txBody>
                  <a:tcPr/>
                </a:tc>
                <a:extLst>
                  <a:ext uri="{0D108BD9-81ED-4DB2-BD59-A6C34878D82A}">
                    <a16:rowId xmlns:a16="http://schemas.microsoft.com/office/drawing/2014/main" val="3911050536"/>
                  </a:ext>
                </a:extLst>
              </a:tr>
              <a:tr h="2790929">
                <a:tc>
                  <a:txBody>
                    <a:bodyPr/>
                    <a:lstStyle/>
                    <a:p>
                      <a:r>
                        <a:rPr lang="en-IN" dirty="0"/>
                        <a:t>Meghana </a:t>
                      </a:r>
                      <a:r>
                        <a:rPr lang="en-IN" dirty="0" err="1"/>
                        <a:t>Puvvadi</a:t>
                      </a:r>
                      <a:r>
                        <a:rPr lang="en-IN" dirty="0"/>
                        <a:t>,</a:t>
                      </a:r>
                    </a:p>
                    <a:p>
                      <a:r>
                        <a:rPr lang="en-IN" dirty="0"/>
                        <a:t>Sai Kumar Arava,</a:t>
                      </a:r>
                    </a:p>
                    <a:p>
                      <a:r>
                        <a:rPr lang="en-IN" dirty="0"/>
                        <a:t>Adarsh Santoria,</a:t>
                      </a:r>
                    </a:p>
                    <a:p>
                      <a:r>
                        <a:rPr lang="en-IN" dirty="0"/>
                        <a:t>Sesha Sai</a:t>
                      </a:r>
                    </a:p>
                    <a:p>
                      <a:r>
                        <a:rPr lang="en-IN" dirty="0"/>
                        <a:t>Prasanna</a:t>
                      </a:r>
                    </a:p>
                    <a:p>
                      <a:r>
                        <a:rPr lang="en-IN" dirty="0"/>
                        <a:t>Chennupati,</a:t>
                      </a:r>
                    </a:p>
                    <a:p>
                      <a:r>
                        <a:rPr lang="en-IN" dirty="0"/>
                        <a:t>Harsha Vardhan</a:t>
                      </a:r>
                    </a:p>
                    <a:p>
                      <a:r>
                        <a:rPr lang="en-IN" dirty="0" err="1"/>
                        <a:t>Puvvadi</a:t>
                      </a:r>
                      <a:endParaRPr lang="en-IN" dirty="0"/>
                    </a:p>
                  </a:txBody>
                  <a:tcPr/>
                </a:tc>
                <a:tc>
                  <a:txBody>
                    <a:bodyPr/>
                    <a:lstStyle/>
                    <a:p>
                      <a:r>
                        <a:rPr lang="en-US" dirty="0"/>
                        <a:t>Generative AI</a:t>
                      </a:r>
                    </a:p>
                    <a:p>
                      <a:r>
                        <a:rPr lang="en-US" dirty="0"/>
                        <a:t>for Personalized</a:t>
                      </a:r>
                    </a:p>
                    <a:p>
                      <a:r>
                        <a:rPr lang="en-US" dirty="0"/>
                        <a:t>Learning and</a:t>
                      </a:r>
                    </a:p>
                    <a:p>
                      <a:r>
                        <a:rPr lang="en-US" dirty="0"/>
                        <a:t>Education</a:t>
                      </a:r>
                      <a:endParaRPr lang="en-IN" dirty="0"/>
                    </a:p>
                  </a:txBody>
                  <a:tcPr/>
                </a:tc>
                <a:tc>
                  <a:txBody>
                    <a:bodyPr/>
                    <a:lstStyle/>
                    <a:p>
                      <a:r>
                        <a:rPr lang="en-IN" dirty="0"/>
                        <a:t>2023,IEEE</a:t>
                      </a:r>
                    </a:p>
                  </a:txBody>
                  <a:tcPr/>
                </a:tc>
                <a:tc>
                  <a:txBody>
                    <a:bodyPr/>
                    <a:lstStyle/>
                    <a:p>
                      <a:r>
                        <a:rPr lang="en-US" dirty="0"/>
                        <a:t>Focuses mainly on conceptual</a:t>
                      </a:r>
                    </a:p>
                    <a:p>
                      <a:r>
                        <a:rPr lang="en-US" dirty="0"/>
                        <a:t>discussion;</a:t>
                      </a:r>
                    </a:p>
                    <a:p>
                      <a:r>
                        <a:rPr lang="en-US" dirty="0"/>
                        <a:t>Lacks syllabus-</a:t>
                      </a:r>
                    </a:p>
                    <a:p>
                      <a:r>
                        <a:rPr lang="en-US" dirty="0"/>
                        <a:t>aligned</a:t>
                      </a:r>
                    </a:p>
                    <a:p>
                      <a:r>
                        <a:rPr lang="en-US" dirty="0"/>
                        <a:t>structured</a:t>
                      </a:r>
                    </a:p>
                    <a:p>
                      <a:r>
                        <a:rPr lang="en-US" dirty="0"/>
                        <a:t>system</a:t>
                      </a:r>
                    </a:p>
                    <a:p>
                      <a:r>
                        <a:rPr lang="en-US" dirty="0"/>
                        <a:t>implementation</a:t>
                      </a:r>
                      <a:endParaRPr lang="en-IN" dirty="0"/>
                    </a:p>
                  </a:txBody>
                  <a:tcPr/>
                </a:tc>
                <a:tc>
                  <a:txBody>
                    <a:bodyPr/>
                    <a:lstStyle/>
                    <a:p>
                      <a:r>
                        <a:rPr lang="en-US" dirty="0"/>
                        <a:t>Development</a:t>
                      </a:r>
                    </a:p>
                    <a:p>
                      <a:r>
                        <a:rPr lang="en-US" dirty="0"/>
                        <a:t>of curriculum-</a:t>
                      </a:r>
                    </a:p>
                    <a:p>
                      <a:r>
                        <a:rPr lang="en-US" dirty="0"/>
                        <a:t>based and Bloom’s Taxonomy-driven</a:t>
                      </a:r>
                    </a:p>
                    <a:p>
                      <a:r>
                        <a:rPr lang="en-US" dirty="0"/>
                        <a:t>automated</a:t>
                      </a:r>
                    </a:p>
                    <a:p>
                      <a:r>
                        <a:rPr lang="en-US" dirty="0"/>
                        <a:t>study material</a:t>
                      </a:r>
                    </a:p>
                    <a:p>
                      <a:r>
                        <a:rPr lang="en-US" dirty="0"/>
                        <a:t>generation</a:t>
                      </a:r>
                    </a:p>
                    <a:p>
                      <a:r>
                        <a:rPr lang="en-US" dirty="0"/>
                        <a:t>systems</a:t>
                      </a:r>
                      <a:endParaRPr lang="en-IN" dirty="0"/>
                    </a:p>
                  </a:txBody>
                  <a:tcPr/>
                </a:tc>
                <a:tc>
                  <a:txBody>
                    <a:bodyPr/>
                    <a:lstStyle/>
                    <a:p>
                      <a:r>
                        <a:rPr lang="en-US" dirty="0"/>
                        <a:t>Demonstrates</a:t>
                      </a:r>
                    </a:p>
                    <a:p>
                      <a:r>
                        <a:rPr lang="en-US" dirty="0"/>
                        <a:t>how generative</a:t>
                      </a:r>
                    </a:p>
                    <a:p>
                      <a:r>
                        <a:rPr lang="en-US" dirty="0"/>
                        <a:t>AI enables</a:t>
                      </a:r>
                    </a:p>
                    <a:p>
                      <a:r>
                        <a:rPr lang="en-US" dirty="0"/>
                        <a:t>personalized</a:t>
                      </a:r>
                    </a:p>
                    <a:p>
                      <a:r>
                        <a:rPr lang="en-US" dirty="0"/>
                        <a:t>learning and</a:t>
                      </a:r>
                    </a:p>
                    <a:p>
                      <a:r>
                        <a:rPr lang="en-US" dirty="0"/>
                        <a:t>adaptive</a:t>
                      </a:r>
                    </a:p>
                    <a:p>
                      <a:r>
                        <a:rPr lang="en-US" dirty="0"/>
                        <a:t>educational</a:t>
                      </a:r>
                    </a:p>
                    <a:p>
                      <a:r>
                        <a:rPr lang="en-US" dirty="0"/>
                        <a:t>content</a:t>
                      </a:r>
                      <a:endParaRPr lang="en-IN" dirty="0"/>
                    </a:p>
                  </a:txBody>
                  <a:tcPr/>
                </a:tc>
                <a:extLst>
                  <a:ext uri="{0D108BD9-81ED-4DB2-BD59-A6C34878D82A}">
                    <a16:rowId xmlns:a16="http://schemas.microsoft.com/office/drawing/2014/main" val="2342803639"/>
                  </a:ext>
                </a:extLst>
              </a:tr>
              <a:tr h="2699660">
                <a:tc>
                  <a:txBody>
                    <a:bodyPr/>
                    <a:lstStyle/>
                    <a:p>
                      <a:r>
                        <a:rPr lang="en-IN" dirty="0"/>
                        <a:t>Vinutha K, Anaya</a:t>
                      </a:r>
                    </a:p>
                    <a:p>
                      <a:r>
                        <a:rPr lang="en-IN" dirty="0"/>
                        <a:t>Singh Gopal,</a:t>
                      </a:r>
                    </a:p>
                    <a:p>
                      <a:r>
                        <a:rPr lang="en-IN" dirty="0"/>
                        <a:t>Manjunath T N,</a:t>
                      </a:r>
                    </a:p>
                    <a:p>
                      <a:r>
                        <a:rPr lang="en-IN" dirty="0"/>
                        <a:t>Sinchana R P, S.</a:t>
                      </a:r>
                    </a:p>
                    <a:p>
                      <a:r>
                        <a:rPr lang="en-IN" dirty="0"/>
                        <a:t>Nithyashri</a:t>
                      </a:r>
                    </a:p>
                    <a:p>
                      <a:endParaRPr lang="en-IN" dirty="0"/>
                    </a:p>
                    <a:p>
                      <a:endParaRPr lang="en-IN" dirty="0"/>
                    </a:p>
                    <a:p>
                      <a:endParaRPr lang="en-IN" dirty="0"/>
                    </a:p>
                    <a:p>
                      <a:endParaRPr lang="en-IN" dirty="0"/>
                    </a:p>
                    <a:p>
                      <a:endParaRPr lang="en-IN" dirty="0"/>
                    </a:p>
                  </a:txBody>
                  <a:tcPr/>
                </a:tc>
                <a:tc>
                  <a:txBody>
                    <a:bodyPr/>
                    <a:lstStyle/>
                    <a:p>
                      <a:r>
                        <a:rPr lang="en-IN" dirty="0"/>
                        <a:t>Dynamic</a:t>
                      </a:r>
                    </a:p>
                    <a:p>
                      <a:r>
                        <a:rPr lang="en-IN" dirty="0"/>
                        <a:t>Content</a:t>
                      </a:r>
                    </a:p>
                    <a:p>
                      <a:r>
                        <a:rPr lang="en-IN" dirty="0"/>
                        <a:t>Generation for</a:t>
                      </a:r>
                    </a:p>
                    <a:p>
                      <a:r>
                        <a:rPr lang="en-IN" dirty="0"/>
                        <a:t>Learning</a:t>
                      </a:r>
                    </a:p>
                    <a:p>
                      <a:r>
                        <a:rPr lang="en-IN" dirty="0"/>
                        <a:t>Management</a:t>
                      </a:r>
                    </a:p>
                    <a:p>
                      <a:r>
                        <a:rPr lang="en-IN" dirty="0"/>
                        <a:t>System Using</a:t>
                      </a:r>
                    </a:p>
                    <a:p>
                      <a:r>
                        <a:rPr lang="en-IN" dirty="0"/>
                        <a:t>Generative AI</a:t>
                      </a:r>
                    </a:p>
                    <a:p>
                      <a:endParaRPr lang="en-IN" dirty="0"/>
                    </a:p>
                  </a:txBody>
                  <a:tcPr/>
                </a:tc>
                <a:tc>
                  <a:txBody>
                    <a:bodyPr/>
                    <a:lstStyle/>
                    <a:p>
                      <a:r>
                        <a:rPr lang="en-IN" dirty="0"/>
                        <a:t>2024,</a:t>
                      </a:r>
                    </a:p>
                    <a:p>
                      <a:r>
                        <a:rPr lang="en-IN" dirty="0"/>
                        <a:t>IEEE</a:t>
                      </a:r>
                    </a:p>
                    <a:p>
                      <a:endParaRPr lang="en-IN" dirty="0"/>
                    </a:p>
                  </a:txBody>
                  <a:tcPr/>
                </a:tc>
                <a:tc>
                  <a:txBody>
                    <a:bodyPr/>
                    <a:lstStyle/>
                    <a:p>
                      <a:r>
                        <a:rPr lang="en-IN" dirty="0"/>
                        <a:t>Does not</a:t>
                      </a:r>
                    </a:p>
                    <a:p>
                      <a:r>
                        <a:rPr lang="en-IN" dirty="0"/>
                        <a:t>enforce Bloom’s</a:t>
                      </a:r>
                    </a:p>
                    <a:p>
                      <a:r>
                        <a:rPr lang="en-IN" dirty="0"/>
                        <a:t>Taxonomy or</a:t>
                      </a:r>
                    </a:p>
                    <a:p>
                      <a:r>
                        <a:rPr lang="en-IN" dirty="0"/>
                        <a:t>syllabus-based</a:t>
                      </a:r>
                    </a:p>
                    <a:p>
                      <a:r>
                        <a:rPr lang="en-IN" dirty="0"/>
                        <a:t>academic</a:t>
                      </a:r>
                    </a:p>
                    <a:p>
                      <a:r>
                        <a:rPr lang="en-IN" dirty="0"/>
                        <a:t>structuring</a:t>
                      </a:r>
                    </a:p>
                    <a:p>
                      <a:endParaRPr lang="en-IN" dirty="0"/>
                    </a:p>
                  </a:txBody>
                  <a:tcPr/>
                </a:tc>
                <a:tc>
                  <a:txBody>
                    <a:bodyPr/>
                    <a:lstStyle/>
                    <a:p>
                      <a:r>
                        <a:rPr lang="en-IN" dirty="0"/>
                        <a:t>Integration of</a:t>
                      </a:r>
                    </a:p>
                    <a:p>
                      <a:r>
                        <a:rPr lang="en-IN" dirty="0"/>
                        <a:t>Bloom’s</a:t>
                      </a:r>
                    </a:p>
                    <a:p>
                      <a:r>
                        <a:rPr lang="en-IN" dirty="0"/>
                        <a:t>Taxonomy,</a:t>
                      </a:r>
                    </a:p>
                    <a:p>
                      <a:r>
                        <a:rPr lang="en-IN" dirty="0"/>
                        <a:t>syllabus</a:t>
                      </a:r>
                    </a:p>
                    <a:p>
                      <a:r>
                        <a:rPr lang="en-IN" dirty="0"/>
                        <a:t>control, and</a:t>
                      </a:r>
                    </a:p>
                    <a:p>
                      <a:r>
                        <a:rPr lang="en-IN" dirty="0"/>
                        <a:t>exam-oriented</a:t>
                      </a:r>
                    </a:p>
                    <a:p>
                      <a:r>
                        <a:rPr lang="en-IN" dirty="0"/>
                        <a:t>content</a:t>
                      </a:r>
                    </a:p>
                    <a:p>
                      <a:r>
                        <a:rPr lang="en-IN" dirty="0"/>
                        <a:t>generation</a:t>
                      </a:r>
                    </a:p>
                    <a:p>
                      <a:endParaRPr lang="en-IN" dirty="0"/>
                    </a:p>
                  </a:txBody>
                  <a:tcPr/>
                </a:tc>
                <a:tc>
                  <a:txBody>
                    <a:bodyPr/>
                    <a:lstStyle/>
                    <a:p>
                      <a:r>
                        <a:rPr lang="en-IN" dirty="0"/>
                        <a:t>Proposes an</a:t>
                      </a:r>
                    </a:p>
                    <a:p>
                      <a:r>
                        <a:rPr lang="en-IN" dirty="0"/>
                        <a:t>AI-based</a:t>
                      </a:r>
                    </a:p>
                    <a:p>
                      <a:r>
                        <a:rPr lang="en-IN" dirty="0"/>
                        <a:t>system for</a:t>
                      </a:r>
                    </a:p>
                    <a:p>
                      <a:r>
                        <a:rPr lang="en-IN" dirty="0"/>
                        <a:t>dynamic study</a:t>
                      </a:r>
                    </a:p>
                    <a:p>
                      <a:r>
                        <a:rPr lang="en-IN" dirty="0"/>
                        <a:t>content</a:t>
                      </a:r>
                    </a:p>
                    <a:p>
                      <a:r>
                        <a:rPr lang="en-IN" dirty="0"/>
                        <a:t>generation</a:t>
                      </a:r>
                    </a:p>
                    <a:p>
                      <a:r>
                        <a:rPr lang="en-IN" dirty="0"/>
                        <a:t>within an LMS</a:t>
                      </a:r>
                    </a:p>
                    <a:p>
                      <a:endParaRPr lang="en-IN" dirty="0"/>
                    </a:p>
                  </a:txBody>
                  <a:tcPr/>
                </a:tc>
                <a:extLst>
                  <a:ext uri="{0D108BD9-81ED-4DB2-BD59-A6C34878D82A}">
                    <a16:rowId xmlns:a16="http://schemas.microsoft.com/office/drawing/2014/main" val="2893188625"/>
                  </a:ext>
                </a:extLst>
              </a:tr>
            </a:tbl>
          </a:graphicData>
        </a:graphic>
      </p:graphicFrame>
    </p:spTree>
    <p:extLst>
      <p:ext uri="{BB962C8B-B14F-4D97-AF65-F5344CB8AC3E}">
        <p14:creationId xmlns:p14="http://schemas.microsoft.com/office/powerpoint/2010/main" val="298869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8295536-391F-C7F6-8A23-203934B10825}"/>
              </a:ext>
            </a:extLst>
          </p:cNvPr>
          <p:cNvGraphicFramePr>
            <a:graphicFrameLocks noGrp="1"/>
          </p:cNvGraphicFramePr>
          <p:nvPr>
            <p:extLst>
              <p:ext uri="{D42A27DB-BD31-4B8C-83A1-F6EECF244321}">
                <p14:modId xmlns:p14="http://schemas.microsoft.com/office/powerpoint/2010/main" val="3341768768"/>
              </p:ext>
            </p:extLst>
          </p:nvPr>
        </p:nvGraphicFramePr>
        <p:xfrm>
          <a:off x="427474" y="192024"/>
          <a:ext cx="13545178" cy="7845552"/>
        </p:xfrm>
        <a:graphic>
          <a:graphicData uri="http://schemas.openxmlformats.org/drawingml/2006/table">
            <a:tbl>
              <a:tblPr firstRow="1" bandRow="1">
                <a:tableStyleId>{5C22544A-7EE6-4342-B048-85BDC9FD1C3A}</a:tableStyleId>
              </a:tblPr>
              <a:tblGrid>
                <a:gridCol w="2088796">
                  <a:extLst>
                    <a:ext uri="{9D8B030D-6E8A-4147-A177-3AD203B41FA5}">
                      <a16:colId xmlns:a16="http://schemas.microsoft.com/office/drawing/2014/main" val="1834305452"/>
                    </a:ext>
                  </a:extLst>
                </a:gridCol>
                <a:gridCol w="2429590">
                  <a:extLst>
                    <a:ext uri="{9D8B030D-6E8A-4147-A177-3AD203B41FA5}">
                      <a16:colId xmlns:a16="http://schemas.microsoft.com/office/drawing/2014/main" val="1664524950"/>
                    </a:ext>
                  </a:extLst>
                </a:gridCol>
                <a:gridCol w="1711592">
                  <a:extLst>
                    <a:ext uri="{9D8B030D-6E8A-4147-A177-3AD203B41FA5}">
                      <a16:colId xmlns:a16="http://schemas.microsoft.com/office/drawing/2014/main" val="3898611879"/>
                    </a:ext>
                  </a:extLst>
                </a:gridCol>
                <a:gridCol w="1675466">
                  <a:extLst>
                    <a:ext uri="{9D8B030D-6E8A-4147-A177-3AD203B41FA5}">
                      <a16:colId xmlns:a16="http://schemas.microsoft.com/office/drawing/2014/main" val="3146408088"/>
                    </a:ext>
                  </a:extLst>
                </a:gridCol>
                <a:gridCol w="2208729">
                  <a:extLst>
                    <a:ext uri="{9D8B030D-6E8A-4147-A177-3AD203B41FA5}">
                      <a16:colId xmlns:a16="http://schemas.microsoft.com/office/drawing/2014/main" val="2957170207"/>
                    </a:ext>
                  </a:extLst>
                </a:gridCol>
                <a:gridCol w="3431005">
                  <a:extLst>
                    <a:ext uri="{9D8B030D-6E8A-4147-A177-3AD203B41FA5}">
                      <a16:colId xmlns:a16="http://schemas.microsoft.com/office/drawing/2014/main" val="1669202677"/>
                    </a:ext>
                  </a:extLst>
                </a:gridCol>
              </a:tblGrid>
              <a:tr h="760559">
                <a:tc>
                  <a:txBody>
                    <a:bodyPr/>
                    <a:lstStyle/>
                    <a:p>
                      <a:r>
                        <a:rPr lang="en-US" dirty="0"/>
                        <a:t>Author Name</a:t>
                      </a:r>
                    </a:p>
                    <a:p>
                      <a:endParaRPr lang="en-US" dirty="0"/>
                    </a:p>
                  </a:txBody>
                  <a:tcPr/>
                </a:tc>
                <a:tc>
                  <a:txBody>
                    <a:bodyPr/>
                    <a:lstStyle/>
                    <a:p>
                      <a:r>
                        <a:rPr lang="en-US" dirty="0"/>
                        <a:t>Title</a:t>
                      </a:r>
                      <a:endParaRPr lang="en-IN" dirty="0"/>
                    </a:p>
                  </a:txBody>
                  <a:tcPr/>
                </a:tc>
                <a:tc>
                  <a:txBody>
                    <a:bodyPr/>
                    <a:lstStyle/>
                    <a:p>
                      <a:r>
                        <a:rPr lang="en-US" dirty="0"/>
                        <a:t>Year and</a:t>
                      </a:r>
                    </a:p>
                    <a:p>
                      <a:r>
                        <a:rPr lang="en-US" dirty="0"/>
                        <a:t>Publisher</a:t>
                      </a:r>
                    </a:p>
                  </a:txBody>
                  <a:tcPr/>
                </a:tc>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Limitation</a:t>
                      </a:r>
                      <a:endParaRPr lang="en-IN" dirty="0"/>
                    </a:p>
                    <a:p>
                      <a:endParaRPr lang="en-IN" dirty="0"/>
                    </a:p>
                  </a:txBody>
                  <a:tcPr/>
                </a:tc>
                <a:tc>
                  <a:txBody>
                    <a:bodyPr/>
                    <a:lstStyle/>
                    <a:p>
                      <a:r>
                        <a:rPr lang="en-US" dirty="0"/>
                        <a:t>Future</a:t>
                      </a:r>
                    </a:p>
                    <a:p>
                      <a:r>
                        <a:rPr lang="en-US" dirty="0"/>
                        <a:t>Scope</a:t>
                      </a:r>
                    </a:p>
                    <a:p>
                      <a:endParaRPr lang="en-IN" dirty="0"/>
                    </a:p>
                  </a:txBody>
                  <a:tcPr/>
                </a:tc>
                <a:tc>
                  <a:txBody>
                    <a:bodyPr/>
                    <a:lstStyle/>
                    <a:p>
                      <a:pPr marL="0" marR="0" lvl="0" indent="0" algn="l" defTabSz="548640" rtl="0" eaLnBrk="1" fontAlgn="auto" latinLnBrk="0" hangingPunct="1">
                        <a:lnSpc>
                          <a:spcPct val="100000"/>
                        </a:lnSpc>
                        <a:spcBef>
                          <a:spcPts val="0"/>
                        </a:spcBef>
                        <a:spcAft>
                          <a:spcPts val="0"/>
                        </a:spcAft>
                        <a:buClrTx/>
                        <a:buSzTx/>
                        <a:buFontTx/>
                        <a:buNone/>
                        <a:tabLst/>
                        <a:defRPr/>
                      </a:pPr>
                      <a:r>
                        <a:rPr lang="en-US" dirty="0"/>
                        <a:t>Achievement</a:t>
                      </a:r>
                      <a:endParaRPr lang="en-IN" dirty="0"/>
                    </a:p>
                    <a:p>
                      <a:endParaRPr lang="en-IN" dirty="0"/>
                    </a:p>
                  </a:txBody>
                  <a:tcPr/>
                </a:tc>
                <a:extLst>
                  <a:ext uri="{0D108BD9-81ED-4DB2-BD59-A6C34878D82A}">
                    <a16:rowId xmlns:a16="http://schemas.microsoft.com/office/drawing/2014/main" val="3320626919"/>
                  </a:ext>
                </a:extLst>
              </a:tr>
              <a:tr h="3262843">
                <a:tc>
                  <a:txBody>
                    <a:bodyPr/>
                    <a:lstStyle/>
                    <a:p>
                      <a:r>
                        <a:rPr lang="en-IN" dirty="0"/>
                        <a:t>MAHMOUD BIDRY,</a:t>
                      </a:r>
                    </a:p>
                    <a:p>
                      <a:r>
                        <a:rPr lang="en-IN" dirty="0"/>
                        <a:t>MOHAMED HANINE,</a:t>
                      </a:r>
                    </a:p>
                    <a:p>
                      <a:r>
                        <a:rPr lang="en-IN" dirty="0"/>
                        <a:t>ABDELLAH</a:t>
                      </a:r>
                    </a:p>
                    <a:p>
                      <a:r>
                        <a:rPr lang="en-IN" dirty="0"/>
                        <a:t>OUAGUID,AND</a:t>
                      </a:r>
                    </a:p>
                    <a:p>
                      <a:r>
                        <a:rPr lang="en-IN" dirty="0"/>
                        <a:t>WAEAL J. OBIDALLAH</a:t>
                      </a:r>
                    </a:p>
                    <a:p>
                      <a:endParaRPr lang="en-IN" dirty="0"/>
                    </a:p>
                    <a:p>
                      <a:endParaRPr lang="en-IN" dirty="0"/>
                    </a:p>
                  </a:txBody>
                  <a:tcPr/>
                </a:tc>
                <a:tc>
                  <a:txBody>
                    <a:bodyPr/>
                    <a:lstStyle/>
                    <a:p>
                      <a:r>
                        <a:rPr lang="en-IN" dirty="0"/>
                        <a:t>Transforming</a:t>
                      </a:r>
                    </a:p>
                    <a:p>
                      <a:r>
                        <a:rPr lang="en-IN" dirty="0"/>
                        <a:t>Education with</a:t>
                      </a:r>
                    </a:p>
                    <a:p>
                      <a:r>
                        <a:rPr lang="en-IN" dirty="0"/>
                        <a:t>Generative AI: A Comprehensive</a:t>
                      </a:r>
                    </a:p>
                    <a:p>
                      <a:r>
                        <a:rPr lang="en-IN" dirty="0"/>
                        <a:t>Review of</a:t>
                      </a:r>
                    </a:p>
                    <a:p>
                      <a:r>
                        <a:rPr lang="en-IN" dirty="0"/>
                        <a:t>Advancements,</a:t>
                      </a:r>
                    </a:p>
                    <a:p>
                      <a:r>
                        <a:rPr lang="en-IN" dirty="0"/>
                        <a:t>Challenges, and</a:t>
                      </a:r>
                    </a:p>
                    <a:p>
                      <a:r>
                        <a:rPr lang="en-IN" dirty="0"/>
                        <a:t>Future</a:t>
                      </a:r>
                    </a:p>
                    <a:p>
                      <a:r>
                        <a:rPr lang="en-IN" dirty="0"/>
                        <a:t>Opportunities</a:t>
                      </a:r>
                    </a:p>
                    <a:p>
                      <a:endParaRPr lang="en-IN" dirty="0"/>
                    </a:p>
                  </a:txBody>
                  <a:tcPr/>
                </a:tc>
                <a:tc>
                  <a:txBody>
                    <a:bodyPr/>
                    <a:lstStyle/>
                    <a:p>
                      <a:r>
                        <a:rPr lang="en-IN" dirty="0"/>
                        <a:t>2025, IEEE </a:t>
                      </a:r>
                    </a:p>
                  </a:txBody>
                  <a:tcPr/>
                </a:tc>
                <a:tc>
                  <a:txBody>
                    <a:bodyPr/>
                    <a:lstStyle/>
                    <a:p>
                      <a:r>
                        <a:rPr lang="en-IN" dirty="0"/>
                        <a:t>Limited</a:t>
                      </a:r>
                    </a:p>
                    <a:p>
                      <a:r>
                        <a:rPr lang="en-IN" dirty="0"/>
                        <a:t>experimental</a:t>
                      </a:r>
                    </a:p>
                    <a:p>
                      <a:r>
                        <a:rPr lang="en-IN" dirty="0"/>
                        <a:t>validation;</a:t>
                      </a:r>
                    </a:p>
                    <a:p>
                      <a:r>
                        <a:rPr lang="en-IN" dirty="0"/>
                        <a:t>focuses more</a:t>
                      </a:r>
                    </a:p>
                    <a:p>
                      <a:r>
                        <a:rPr lang="en-IN" dirty="0"/>
                        <a:t>on theoretical</a:t>
                      </a:r>
                    </a:p>
                    <a:p>
                      <a:r>
                        <a:rPr lang="en-IN" dirty="0"/>
                        <a:t>discussion</a:t>
                      </a:r>
                    </a:p>
                    <a:p>
                      <a:endParaRPr lang="en-IN" dirty="0"/>
                    </a:p>
                  </a:txBody>
                  <a:tcPr/>
                </a:tc>
                <a:tc>
                  <a:txBody>
                    <a:bodyPr/>
                    <a:lstStyle/>
                    <a:p>
                      <a:r>
                        <a:rPr lang="en-IN" dirty="0"/>
                        <a:t>Implementation</a:t>
                      </a:r>
                    </a:p>
                    <a:p>
                      <a:r>
                        <a:rPr lang="en-IN" dirty="0"/>
                        <a:t>of syllabus-</a:t>
                      </a:r>
                    </a:p>
                    <a:p>
                      <a:r>
                        <a:rPr lang="en-IN" dirty="0"/>
                        <a:t>aligned and</a:t>
                      </a:r>
                    </a:p>
                    <a:p>
                      <a:r>
                        <a:rPr lang="en-IN" dirty="0"/>
                        <a:t>assessment-</a:t>
                      </a:r>
                    </a:p>
                    <a:p>
                      <a:r>
                        <a:rPr lang="en-IN" dirty="0"/>
                        <a:t>driven</a:t>
                      </a:r>
                    </a:p>
                    <a:p>
                      <a:r>
                        <a:rPr lang="en-IN" dirty="0"/>
                        <a:t>generative AI</a:t>
                      </a:r>
                    </a:p>
                    <a:p>
                      <a:r>
                        <a:rPr lang="en-IN" dirty="0"/>
                        <a:t>educational</a:t>
                      </a:r>
                    </a:p>
                    <a:p>
                      <a:r>
                        <a:rPr lang="en-IN" dirty="0"/>
                        <a:t>systems</a:t>
                      </a:r>
                    </a:p>
                    <a:p>
                      <a:endParaRPr lang="en-IN" dirty="0"/>
                    </a:p>
                  </a:txBody>
                  <a:tcPr/>
                </a:tc>
                <a:tc>
                  <a:txBody>
                    <a:bodyPr/>
                    <a:lstStyle/>
                    <a:p>
                      <a:r>
                        <a:rPr lang="en-IN" dirty="0"/>
                        <a:t>Highlights</a:t>
                      </a:r>
                    </a:p>
                    <a:p>
                      <a:r>
                        <a:rPr lang="en-IN" dirty="0"/>
                        <a:t>advancements</a:t>
                      </a:r>
                    </a:p>
                    <a:p>
                      <a:r>
                        <a:rPr lang="en-IN" dirty="0"/>
                        <a:t>of generative AI</a:t>
                      </a:r>
                    </a:p>
                    <a:p>
                      <a:r>
                        <a:rPr lang="en-IN" dirty="0"/>
                        <a:t>in tutoring,</a:t>
                      </a:r>
                    </a:p>
                    <a:p>
                      <a:r>
                        <a:rPr lang="en-IN" dirty="0"/>
                        <a:t>assessment,</a:t>
                      </a:r>
                    </a:p>
                    <a:p>
                      <a:r>
                        <a:rPr lang="en-IN" dirty="0"/>
                        <a:t>and content</a:t>
                      </a:r>
                    </a:p>
                    <a:p>
                      <a:r>
                        <a:rPr lang="en-IN" dirty="0"/>
                        <a:t>creation</a:t>
                      </a:r>
                    </a:p>
                    <a:p>
                      <a:endParaRPr lang="en-IN" dirty="0"/>
                    </a:p>
                  </a:txBody>
                  <a:tcPr/>
                </a:tc>
                <a:extLst>
                  <a:ext uri="{0D108BD9-81ED-4DB2-BD59-A6C34878D82A}">
                    <a16:rowId xmlns:a16="http://schemas.microsoft.com/office/drawing/2014/main" val="4273393534"/>
                  </a:ext>
                </a:extLst>
              </a:tr>
              <a:tr h="3262843">
                <a:tc>
                  <a:txBody>
                    <a:bodyPr/>
                    <a:lstStyle/>
                    <a:p>
                      <a:r>
                        <a:rPr lang="en-IN" dirty="0"/>
                        <a:t>Xu Yuan, </a:t>
                      </a:r>
                      <a:r>
                        <a:rPr lang="en-IN" dirty="0" err="1"/>
                        <a:t>Zhihan</a:t>
                      </a:r>
                      <a:endParaRPr lang="en-IN" dirty="0"/>
                    </a:p>
                    <a:p>
                      <a:r>
                        <a:rPr lang="en-IN" dirty="0"/>
                        <a:t>Ding, </a:t>
                      </a:r>
                      <a:r>
                        <a:rPr lang="en-IN" dirty="0" err="1"/>
                        <a:t>Zhenyi</a:t>
                      </a:r>
                      <a:endParaRPr lang="en-IN" dirty="0"/>
                    </a:p>
                    <a:p>
                      <a:r>
                        <a:rPr lang="en-IN" dirty="0"/>
                        <a:t>Zhang, </a:t>
                      </a:r>
                      <a:r>
                        <a:rPr lang="en-IN" dirty="0" err="1"/>
                        <a:t>Yanbing</a:t>
                      </a:r>
                      <a:endParaRPr lang="en-IN" dirty="0"/>
                    </a:p>
                    <a:p>
                      <a:r>
                        <a:rPr lang="en-IN" dirty="0"/>
                        <a:t>Zhou, </a:t>
                      </a:r>
                      <a:r>
                        <a:rPr lang="en-IN" dirty="0" err="1"/>
                        <a:t>Liuxu</a:t>
                      </a:r>
                      <a:r>
                        <a:rPr lang="en-IN" dirty="0"/>
                        <a:t> Zhou,</a:t>
                      </a:r>
                    </a:p>
                    <a:p>
                      <a:r>
                        <a:rPr lang="en-IN" dirty="0" err="1"/>
                        <a:t>Zigang</a:t>
                      </a:r>
                      <a:r>
                        <a:rPr lang="en-IN" dirty="0"/>
                        <a:t> Ge</a:t>
                      </a:r>
                    </a:p>
                    <a:p>
                      <a:endParaRPr lang="en-IN" dirty="0"/>
                    </a:p>
                    <a:p>
                      <a:endParaRPr lang="en-IN" dirty="0"/>
                    </a:p>
                    <a:p>
                      <a:endParaRPr lang="en-IN" dirty="0"/>
                    </a:p>
                  </a:txBody>
                  <a:tcPr/>
                </a:tc>
                <a:tc>
                  <a:txBody>
                    <a:bodyPr/>
                    <a:lstStyle/>
                    <a:p>
                      <a:r>
                        <a:rPr lang="en-IN" dirty="0"/>
                        <a:t>Personalized</a:t>
                      </a:r>
                    </a:p>
                    <a:p>
                      <a:r>
                        <a:rPr lang="en-IN" dirty="0"/>
                        <a:t>Learning Resources Created by Generative</a:t>
                      </a:r>
                    </a:p>
                    <a:p>
                      <a:r>
                        <a:rPr lang="en-IN" dirty="0"/>
                        <a:t>Artificial Intelligence: A</a:t>
                      </a:r>
                    </a:p>
                    <a:p>
                      <a:r>
                        <a:rPr lang="en-IN" dirty="0"/>
                        <a:t>Systematic Review</a:t>
                      </a:r>
                    </a:p>
                    <a:p>
                      <a:endParaRPr lang="en-IN" dirty="0"/>
                    </a:p>
                  </a:txBody>
                  <a:tcPr/>
                </a:tc>
                <a:tc>
                  <a:txBody>
                    <a:bodyPr/>
                    <a:lstStyle/>
                    <a:p>
                      <a:r>
                        <a:rPr lang="en-IN" dirty="0"/>
                        <a:t>2024,</a:t>
                      </a:r>
                    </a:p>
                    <a:p>
                      <a:r>
                        <a:rPr lang="en-IN" dirty="0"/>
                        <a:t>IEEE</a:t>
                      </a:r>
                    </a:p>
                    <a:p>
                      <a:endParaRPr lang="en-IN" dirty="0"/>
                    </a:p>
                  </a:txBody>
                  <a:tcPr/>
                </a:tc>
                <a:tc>
                  <a:txBody>
                    <a:bodyPr/>
                    <a:lstStyle/>
                    <a:p>
                      <a:r>
                        <a:rPr lang="en-IN" dirty="0"/>
                        <a:t>Focuses on</a:t>
                      </a:r>
                    </a:p>
                    <a:p>
                      <a:r>
                        <a:rPr lang="en-IN" dirty="0"/>
                        <a:t>review and</a:t>
                      </a:r>
                    </a:p>
                    <a:p>
                      <a:r>
                        <a:rPr lang="en-IN" dirty="0"/>
                        <a:t>analysis; does not propose a</a:t>
                      </a:r>
                    </a:p>
                    <a:p>
                      <a:r>
                        <a:rPr lang="en-IN" dirty="0"/>
                        <a:t>concrete</a:t>
                      </a:r>
                    </a:p>
                    <a:p>
                      <a:r>
                        <a:rPr lang="en-IN" dirty="0"/>
                        <a:t>implementation</a:t>
                      </a:r>
                    </a:p>
                    <a:p>
                      <a:r>
                        <a:rPr lang="en-IN" dirty="0"/>
                        <a:t>model</a:t>
                      </a:r>
                    </a:p>
                    <a:p>
                      <a:endParaRPr lang="en-IN" dirty="0"/>
                    </a:p>
                  </a:txBody>
                  <a:tcPr/>
                </a:tc>
                <a:tc>
                  <a:txBody>
                    <a:bodyPr/>
                    <a:lstStyle/>
                    <a:p>
                      <a:r>
                        <a:rPr lang="en-IN" dirty="0"/>
                        <a:t>Design of real-</a:t>
                      </a:r>
                    </a:p>
                    <a:p>
                      <a:r>
                        <a:rPr lang="en-IN" dirty="0"/>
                        <a:t>world</a:t>
                      </a:r>
                    </a:p>
                    <a:p>
                      <a:r>
                        <a:rPr lang="en-IN" dirty="0"/>
                        <a:t>personalized</a:t>
                      </a:r>
                    </a:p>
                    <a:p>
                      <a:r>
                        <a:rPr lang="en-IN" dirty="0"/>
                        <a:t>learning</a:t>
                      </a:r>
                    </a:p>
                    <a:p>
                      <a:r>
                        <a:rPr lang="en-IN" dirty="0"/>
                        <a:t>systems using</a:t>
                      </a:r>
                    </a:p>
                    <a:p>
                      <a:r>
                        <a:rPr lang="en-IN" dirty="0"/>
                        <a:t>generative AI</a:t>
                      </a:r>
                    </a:p>
                    <a:p>
                      <a:endParaRPr lang="en-IN" dirty="0"/>
                    </a:p>
                  </a:txBody>
                  <a:tcPr/>
                </a:tc>
                <a:tc>
                  <a:txBody>
                    <a:bodyPr/>
                    <a:lstStyle/>
                    <a:p>
                      <a:r>
                        <a:rPr lang="en-US" dirty="0"/>
                        <a:t>Systematically</a:t>
                      </a:r>
                    </a:p>
                    <a:p>
                      <a:r>
                        <a:rPr lang="en-US" dirty="0"/>
                        <a:t>analyzes how</a:t>
                      </a:r>
                    </a:p>
                    <a:p>
                      <a:r>
                        <a:rPr lang="en-US" dirty="0"/>
                        <a:t>generative AI improves</a:t>
                      </a:r>
                    </a:p>
                    <a:p>
                      <a:r>
                        <a:rPr lang="en-US" dirty="0"/>
                        <a:t>Personalized learning and</a:t>
                      </a:r>
                    </a:p>
                    <a:p>
                      <a:r>
                        <a:rPr lang="en-US" dirty="0"/>
                        <a:t>Learner engagement</a:t>
                      </a:r>
                      <a:endParaRPr lang="en-IN" dirty="0"/>
                    </a:p>
                  </a:txBody>
                  <a:tcPr/>
                </a:tc>
                <a:extLst>
                  <a:ext uri="{0D108BD9-81ED-4DB2-BD59-A6C34878D82A}">
                    <a16:rowId xmlns:a16="http://schemas.microsoft.com/office/drawing/2014/main" val="3212942569"/>
                  </a:ext>
                </a:extLst>
              </a:tr>
            </a:tbl>
          </a:graphicData>
        </a:graphic>
      </p:graphicFrame>
    </p:spTree>
    <p:extLst>
      <p:ext uri="{BB962C8B-B14F-4D97-AF65-F5344CB8AC3E}">
        <p14:creationId xmlns:p14="http://schemas.microsoft.com/office/powerpoint/2010/main" val="2650017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p:nvPr/>
        </p:nvSpPr>
        <p:spPr>
          <a:xfrm>
            <a:off x="466166" y="156674"/>
            <a:ext cx="6131860"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351C75"/>
                </a:solidFill>
                <a:latin typeface="Times New Roman" panose="02020603050405020304" pitchFamily="18" charset="0"/>
                <a:ea typeface="EB Garamond"/>
                <a:cs typeface="Times New Roman" panose="02020603050405020304" pitchFamily="18" charset="0"/>
                <a:sym typeface="EB Garamond"/>
              </a:rPr>
              <a:t>SYSTEM ARCHITECTURE</a:t>
            </a:r>
            <a:r>
              <a:rPr lang="en-US" sz="2000" dirty="0">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5A332301-0E10-48FA-9252-9B0D720F3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713" y="702874"/>
            <a:ext cx="13775635" cy="7423839"/>
          </a:xfrm>
          <a:prstGeom prst="rect">
            <a:avLst/>
          </a:prstGeom>
        </p:spPr>
      </p:pic>
    </p:spTree>
    <p:extLst>
      <p:ext uri="{BB962C8B-B14F-4D97-AF65-F5344CB8AC3E}">
        <p14:creationId xmlns:p14="http://schemas.microsoft.com/office/powerpoint/2010/main" val="702382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6C8F0F-BFEE-A6F5-F2BB-D9BB7E0F0452}"/>
              </a:ext>
            </a:extLst>
          </p:cNvPr>
          <p:cNvSpPr txBox="1"/>
          <p:nvPr/>
        </p:nvSpPr>
        <p:spPr>
          <a:xfrm>
            <a:off x="1593850" y="1104900"/>
            <a:ext cx="11766550" cy="5170646"/>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 WORKFLOW OF SYSTEM ARCHITECTURE:</a:t>
            </a:r>
            <a:endParaRPr lang="en-US" sz="3000" b="1"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Request: </a:t>
            </a:r>
            <a:r>
              <a:rPr lang="en-US" sz="3000" dirty="0">
                <a:latin typeface="Times New Roman" panose="02020603050405020304" pitchFamily="18" charset="0"/>
                <a:cs typeface="Times New Roman" panose="02020603050405020304" pitchFamily="18" charset="0"/>
              </a:rPr>
              <a:t>A student requests a topic through the Presentation Layer.</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Process: </a:t>
            </a:r>
            <a:r>
              <a:rPr lang="en-US" sz="3000" dirty="0">
                <a:latin typeface="Times New Roman" panose="02020603050405020304" pitchFamily="18" charset="0"/>
                <a:cs typeface="Times New Roman" panose="02020603050405020304" pitchFamily="18" charset="0"/>
              </a:rPr>
              <a:t>The Flask Backend triggers the AI Generator in a background thread.</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Generate: </a:t>
            </a:r>
            <a:r>
              <a:rPr lang="en-US" sz="3000" dirty="0">
                <a:latin typeface="Times New Roman" panose="02020603050405020304" pitchFamily="18" charset="0"/>
                <a:cs typeface="Times New Roman" panose="02020603050405020304" pitchFamily="18" charset="0"/>
              </a:rPr>
              <a:t>The Intelligence Layer fetches context, runs it through Llama-3 on </a:t>
            </a:r>
            <a:r>
              <a:rPr lang="en-US" sz="3000" dirty="0" err="1">
                <a:latin typeface="Times New Roman" panose="02020603050405020304" pitchFamily="18" charset="0"/>
                <a:cs typeface="Times New Roman" panose="02020603050405020304" pitchFamily="18" charset="0"/>
              </a:rPr>
              <a:t>Groq</a:t>
            </a:r>
            <a:r>
              <a:rPr lang="en-US" sz="3000" dirty="0">
                <a:latin typeface="Times New Roman" panose="02020603050405020304" pitchFamily="18" charset="0"/>
                <a:cs typeface="Times New Roman" panose="02020603050405020304" pitchFamily="18" charset="0"/>
              </a:rPr>
              <a:t>, checks for duplicates, and creates a PDF.</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Verify: </a:t>
            </a:r>
            <a:r>
              <a:rPr lang="en-US" sz="3000" dirty="0">
                <a:latin typeface="Times New Roman" panose="02020603050405020304" pitchFamily="18" charset="0"/>
                <a:cs typeface="Times New Roman" panose="02020603050405020304" pitchFamily="18" charset="0"/>
              </a:rPr>
              <a:t>The material enters the Verification Pipeline. Once Faculty approves it, the SMTP Engine notifies the students.</a:t>
            </a:r>
          </a:p>
          <a:p>
            <a:pPr marL="457200"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Access: </a:t>
            </a:r>
            <a:r>
              <a:rPr lang="en-US" sz="3000" dirty="0">
                <a:latin typeface="Times New Roman" panose="02020603050405020304" pitchFamily="18" charset="0"/>
                <a:cs typeface="Times New Roman" panose="02020603050405020304" pitchFamily="18" charset="0"/>
              </a:rPr>
              <a:t>The student fetches the verified material from the Data Layer via their dashboard.</a:t>
            </a:r>
          </a:p>
        </p:txBody>
      </p:sp>
    </p:spTree>
    <p:extLst>
      <p:ext uri="{BB962C8B-B14F-4D97-AF65-F5344CB8AC3E}">
        <p14:creationId xmlns:p14="http://schemas.microsoft.com/office/powerpoint/2010/main" val="1468534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D15049-CCE5-8C56-71F3-28F092749B7D}"/>
              </a:ext>
            </a:extLst>
          </p:cNvPr>
          <p:cNvSpPr txBox="1"/>
          <p:nvPr/>
        </p:nvSpPr>
        <p:spPr>
          <a:xfrm>
            <a:off x="838200" y="444500"/>
            <a:ext cx="13042900" cy="7478970"/>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TECHNOLOGY STACK</a:t>
            </a:r>
          </a:p>
          <a:p>
            <a:endParaRPr lang="en-IN" sz="30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Backend Framework: </a:t>
            </a:r>
            <a:r>
              <a:rPr lang="en-IN" sz="3000" dirty="0">
                <a:latin typeface="Times New Roman" panose="02020603050405020304" pitchFamily="18" charset="0"/>
                <a:cs typeface="Times New Roman" panose="02020603050405020304" pitchFamily="18" charset="0"/>
              </a:rPr>
              <a:t>Python / Flask (Lightweight, scalable web server).</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AI &amp; Inference: </a:t>
            </a:r>
            <a:r>
              <a:rPr lang="en-IN" sz="3000" dirty="0">
                <a:latin typeface="Times New Roman" panose="02020603050405020304" pitchFamily="18" charset="0"/>
                <a:cs typeface="Times New Roman" panose="02020603050405020304" pitchFamily="18" charset="0"/>
              </a:rPr>
              <a:t>Meta Llama-3 (70B) powered by the </a:t>
            </a:r>
            <a:r>
              <a:rPr lang="en-IN" sz="3000" dirty="0" err="1">
                <a:latin typeface="Times New Roman" panose="02020603050405020304" pitchFamily="18" charset="0"/>
                <a:cs typeface="Times New Roman" panose="02020603050405020304" pitchFamily="18" charset="0"/>
              </a:rPr>
              <a:t>Groq</a:t>
            </a:r>
            <a:r>
              <a:rPr lang="en-IN" sz="3000" dirty="0">
                <a:latin typeface="Times New Roman" panose="02020603050405020304" pitchFamily="18" charset="0"/>
                <a:cs typeface="Times New Roman" panose="02020603050405020304" pitchFamily="18" charset="0"/>
              </a:rPr>
              <a:t> LPU (Language Processing Unit) for ultra-fast response times.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Database Management: </a:t>
            </a:r>
            <a:r>
              <a:rPr lang="en-IN" sz="3000" dirty="0">
                <a:latin typeface="Times New Roman" panose="02020603050405020304" pitchFamily="18" charset="0"/>
                <a:cs typeface="Times New Roman" panose="02020603050405020304" pitchFamily="18" charset="0"/>
              </a:rPr>
              <a:t>SQLite 3 with </a:t>
            </a:r>
            <a:r>
              <a:rPr lang="en-IN" sz="3000" dirty="0" err="1">
                <a:latin typeface="Times New Roman" panose="02020603050405020304" pitchFamily="18" charset="0"/>
                <a:cs typeface="Times New Roman" panose="02020603050405020304" pitchFamily="18" charset="0"/>
              </a:rPr>
              <a:t>SQLAlchemy</a:t>
            </a:r>
            <a:r>
              <a:rPr lang="en-IN" sz="3000" dirty="0">
                <a:latin typeface="Times New Roman" panose="02020603050405020304" pitchFamily="18" charset="0"/>
                <a:cs typeface="Times New Roman" panose="02020603050405020304" pitchFamily="18" charset="0"/>
              </a:rPr>
              <a:t> ORM (Relational data persistence).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Frontend Technologies: </a:t>
            </a:r>
            <a:r>
              <a:rPr lang="en-IN" sz="3000" dirty="0">
                <a:latin typeface="Times New Roman" panose="02020603050405020304" pitchFamily="18" charset="0"/>
                <a:cs typeface="Times New Roman" panose="02020603050405020304" pitchFamily="18" charset="0"/>
              </a:rPr>
              <a:t>HTML5, CSS3, JavaScript (Responsive and interactive UI).</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PDF Processing: </a:t>
            </a:r>
            <a:r>
              <a:rPr lang="en-IN" sz="3000" dirty="0">
                <a:latin typeface="Times New Roman" panose="02020603050405020304" pitchFamily="18" charset="0"/>
                <a:cs typeface="Times New Roman" panose="02020603050405020304" pitchFamily="18" charset="0"/>
              </a:rPr>
              <a:t>FPDF (Dynamic PDF creation) and </a:t>
            </a:r>
            <a:r>
              <a:rPr lang="en-IN" sz="3000" dirty="0" err="1">
                <a:latin typeface="Times New Roman" panose="02020603050405020304" pitchFamily="18" charset="0"/>
                <a:cs typeface="Times New Roman" panose="02020603050405020304" pitchFamily="18" charset="0"/>
              </a:rPr>
              <a:t>PyMuPDF</a:t>
            </a:r>
            <a:r>
              <a:rPr lang="en-IN" sz="3000" dirty="0">
                <a:latin typeface="Times New Roman" panose="02020603050405020304" pitchFamily="18" charset="0"/>
                <a:cs typeface="Times New Roman" panose="02020603050405020304" pitchFamily="18" charset="0"/>
              </a:rPr>
              <a:t> (Extracting context from existing PDFs).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NLP &amp; Integrity: </a:t>
            </a:r>
            <a:r>
              <a:rPr lang="en-IN" sz="3000" dirty="0">
                <a:latin typeface="Times New Roman" panose="02020603050405020304" pitchFamily="18" charset="0"/>
                <a:cs typeface="Times New Roman" panose="02020603050405020304" pitchFamily="18" charset="0"/>
              </a:rPr>
              <a:t>Scikit-learn (Utilizing TF-IDF Vectorization and Cosine Similarity for plagiarism detection).</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Communication: </a:t>
            </a:r>
            <a:r>
              <a:rPr lang="en-IN" sz="3000" dirty="0">
                <a:latin typeface="Times New Roman" panose="02020603050405020304" pitchFamily="18" charset="0"/>
                <a:cs typeface="Times New Roman" panose="02020603050405020304" pitchFamily="18" charset="0"/>
              </a:rPr>
              <a:t>Flask-Mail (SMTP) for automated email alerts and notifications.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Security: </a:t>
            </a:r>
            <a:r>
              <a:rPr lang="en-IN" sz="3000" dirty="0" err="1">
                <a:latin typeface="Times New Roman" panose="02020603050405020304" pitchFamily="18" charset="0"/>
                <a:cs typeface="Times New Roman" panose="02020603050405020304" pitchFamily="18" charset="0"/>
              </a:rPr>
              <a:t>Werkzeug</a:t>
            </a:r>
            <a:r>
              <a:rPr lang="en-IN" sz="3000" dirty="0">
                <a:latin typeface="Times New Roman" panose="02020603050405020304" pitchFamily="18" charset="0"/>
                <a:cs typeface="Times New Roman" panose="02020603050405020304" pitchFamily="18" charset="0"/>
              </a:rPr>
              <a:t> (Implementing PBKDF2 password hashing).</a:t>
            </a:r>
          </a:p>
        </p:txBody>
      </p:sp>
    </p:spTree>
    <p:extLst>
      <p:ext uri="{BB962C8B-B14F-4D97-AF65-F5344CB8AC3E}">
        <p14:creationId xmlns:p14="http://schemas.microsoft.com/office/powerpoint/2010/main" val="1754521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52A4D54-522A-82AA-43D7-DED387A972DE}"/>
              </a:ext>
            </a:extLst>
          </p:cNvPr>
          <p:cNvSpPr txBox="1"/>
          <p:nvPr/>
        </p:nvSpPr>
        <p:spPr>
          <a:xfrm>
            <a:off x="1003300" y="1059934"/>
            <a:ext cx="12928600" cy="5170646"/>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SOFTWARE REQUIREMENTS:</a:t>
            </a:r>
          </a:p>
          <a:p>
            <a:endParaRPr lang="en-IN" sz="3000" b="1" dirty="0"/>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Operating System:</a:t>
            </a:r>
            <a:r>
              <a:rPr lang="en-IN" sz="3000" dirty="0">
                <a:latin typeface="Times New Roman" panose="02020603050405020304" pitchFamily="18" charset="0"/>
                <a:cs typeface="Times New Roman" panose="02020603050405020304" pitchFamily="18" charset="0"/>
              </a:rPr>
              <a:t> Windows 11</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Programming Language:</a:t>
            </a:r>
            <a:r>
              <a:rPr lang="en-IN" sz="3000" dirty="0">
                <a:latin typeface="Times New Roman" panose="02020603050405020304" pitchFamily="18" charset="0"/>
                <a:cs typeface="Times New Roman" panose="02020603050405020304" pitchFamily="18" charset="0"/>
              </a:rPr>
              <a:t> Python 3.9 or higher.</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Web Framework:</a:t>
            </a:r>
            <a:r>
              <a:rPr lang="en-IN" sz="3000" dirty="0">
                <a:latin typeface="Times New Roman" panose="02020603050405020304" pitchFamily="18" charset="0"/>
                <a:cs typeface="Times New Roman" panose="02020603050405020304" pitchFamily="18" charset="0"/>
              </a:rPr>
              <a:t> </a:t>
            </a:r>
            <a:r>
              <a:rPr lang="en-IN" sz="3000" b="1" dirty="0">
                <a:latin typeface="Times New Roman" panose="02020603050405020304" pitchFamily="18" charset="0"/>
                <a:cs typeface="Times New Roman" panose="02020603050405020304" pitchFamily="18" charset="0"/>
              </a:rPr>
              <a:t>Flask</a:t>
            </a:r>
            <a:r>
              <a:rPr lang="en-IN" sz="3000" dirty="0">
                <a:latin typeface="Times New Roman" panose="02020603050405020304" pitchFamily="18" charset="0"/>
                <a:cs typeface="Times New Roman" panose="02020603050405020304" pitchFamily="18" charset="0"/>
              </a:rPr>
              <a:t> (Python-based micro-framework).</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Database Management System:</a:t>
            </a:r>
            <a:r>
              <a:rPr lang="en-IN" sz="3000" dirty="0">
                <a:latin typeface="Times New Roman" panose="02020603050405020304" pitchFamily="18" charset="0"/>
                <a:cs typeface="Times New Roman" panose="02020603050405020304" pitchFamily="18" charset="0"/>
              </a:rPr>
              <a:t> SQLite 3 (Relational Database).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AI Inference Platform:</a:t>
            </a:r>
            <a:r>
              <a:rPr lang="en-IN" sz="3000" dirty="0">
                <a:latin typeface="Times New Roman" panose="02020603050405020304" pitchFamily="18" charset="0"/>
                <a:cs typeface="Times New Roman" panose="02020603050405020304" pitchFamily="18" charset="0"/>
              </a:rPr>
              <a:t> </a:t>
            </a:r>
            <a:r>
              <a:rPr lang="en-IN" sz="3000" dirty="0" err="1">
                <a:latin typeface="Times New Roman" panose="02020603050405020304" pitchFamily="18" charset="0"/>
                <a:cs typeface="Times New Roman" panose="02020603050405020304" pitchFamily="18" charset="0"/>
              </a:rPr>
              <a:t>Groq</a:t>
            </a:r>
            <a:r>
              <a:rPr lang="en-IN" sz="3000" dirty="0">
                <a:latin typeface="Times New Roman" panose="02020603050405020304" pitchFamily="18" charset="0"/>
                <a:cs typeface="Times New Roman" panose="02020603050405020304" pitchFamily="18" charset="0"/>
              </a:rPr>
              <a:t> API (for Llama-3 access).</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Development Environment:</a:t>
            </a:r>
            <a:r>
              <a:rPr lang="en-IN" sz="3000" dirty="0">
                <a:latin typeface="Times New Roman" panose="02020603050405020304" pitchFamily="18" charset="0"/>
                <a:cs typeface="Times New Roman" panose="02020603050405020304" pitchFamily="18" charset="0"/>
              </a:rPr>
              <a:t> VS Code (Visual Studio Code).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Web Browser:</a:t>
            </a:r>
            <a:r>
              <a:rPr lang="en-IN" sz="3000" dirty="0">
                <a:latin typeface="Times New Roman" panose="02020603050405020304" pitchFamily="18" charset="0"/>
                <a:cs typeface="Times New Roman" panose="02020603050405020304" pitchFamily="18" charset="0"/>
              </a:rPr>
              <a:t> Modern browser (Google Chrome, or Microsoft Edge).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Key Libraries:</a:t>
            </a:r>
            <a:r>
              <a:rPr lang="en-IN" sz="3000" dirty="0">
                <a:latin typeface="Times New Roman" panose="02020603050405020304" pitchFamily="18" charset="0"/>
                <a:cs typeface="Times New Roman" panose="02020603050405020304" pitchFamily="18" charset="0"/>
              </a:rPr>
              <a:t> </a:t>
            </a:r>
            <a:r>
              <a:rPr lang="en-IN" sz="3000" dirty="0" err="1">
                <a:latin typeface="Times New Roman" panose="02020603050405020304" pitchFamily="18" charset="0"/>
                <a:cs typeface="Times New Roman" panose="02020603050405020304" pitchFamily="18" charset="0"/>
              </a:rPr>
              <a:t>SQLAlchemy</a:t>
            </a:r>
            <a:r>
              <a:rPr lang="en-IN" sz="3000" dirty="0">
                <a:latin typeface="Times New Roman" panose="02020603050405020304" pitchFamily="18" charset="0"/>
                <a:cs typeface="Times New Roman" panose="02020603050405020304" pitchFamily="18" charset="0"/>
              </a:rPr>
              <a:t>, Flask-Login, Flask-Mail, FPDF, Scikit-learn.</a:t>
            </a: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spTree>
    <p:extLst>
      <p:ext uri="{BB962C8B-B14F-4D97-AF65-F5344CB8AC3E}">
        <p14:creationId xmlns:p14="http://schemas.microsoft.com/office/powerpoint/2010/main" val="1752611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102742-9100-EE27-EFFB-A3FC3A9393D5}"/>
              </a:ext>
            </a:extLst>
          </p:cNvPr>
          <p:cNvSpPr txBox="1"/>
          <p:nvPr/>
        </p:nvSpPr>
        <p:spPr>
          <a:xfrm>
            <a:off x="1320800" y="1397000"/>
            <a:ext cx="12217400" cy="4339650"/>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HARDWARE REQUIREMENTS:</a:t>
            </a:r>
          </a:p>
          <a:p>
            <a:endParaRPr lang="en-US" sz="1800" b="1" dirty="0">
              <a:solidFill>
                <a:srgbClr val="351C75"/>
              </a:solidFill>
              <a:latin typeface="Times New Roman" panose="02020603050405020304" pitchFamily="18" charset="0"/>
              <a:ea typeface="EB Garamond"/>
              <a:cs typeface="Times New Roman" panose="02020603050405020304" pitchFamily="18" charset="0"/>
              <a:sym typeface="EB Garamond"/>
            </a:endParaRP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Processor: </a:t>
            </a:r>
            <a:r>
              <a:rPr lang="en-IN" sz="3000" dirty="0">
                <a:latin typeface="Times New Roman" panose="02020603050405020304" pitchFamily="18" charset="0"/>
                <a:cs typeface="Times New Roman" panose="02020603050405020304" pitchFamily="18" charset="0"/>
              </a:rPr>
              <a:t>Intel Core i3 (10th Gen) or AMD </a:t>
            </a:r>
            <a:r>
              <a:rPr lang="en-IN" sz="3000" dirty="0" err="1">
                <a:latin typeface="Times New Roman" panose="02020603050405020304" pitchFamily="18" charset="0"/>
                <a:cs typeface="Times New Roman" panose="02020603050405020304" pitchFamily="18" charset="0"/>
              </a:rPr>
              <a:t>Ryzen</a:t>
            </a:r>
            <a:r>
              <a:rPr lang="en-IN" sz="3000" dirty="0">
                <a:latin typeface="Times New Roman" panose="02020603050405020304" pitchFamily="18" charset="0"/>
                <a:cs typeface="Times New Roman" panose="02020603050405020304" pitchFamily="18" charset="0"/>
              </a:rPr>
              <a:t> 3 equivalent (Minimum); Core i5 or higher (Recommended).</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Memory (RAM): </a:t>
            </a:r>
            <a:r>
              <a:rPr lang="en-IN" sz="3000" dirty="0">
                <a:latin typeface="Times New Roman" panose="02020603050405020304" pitchFamily="18" charset="0"/>
                <a:cs typeface="Times New Roman" panose="02020603050405020304" pitchFamily="18" charset="0"/>
              </a:rPr>
              <a:t>8 GB RAM (Minimum) to handle concurrent background threading.</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Storage: </a:t>
            </a:r>
            <a:r>
              <a:rPr lang="en-IN" sz="3000" dirty="0">
                <a:latin typeface="Times New Roman" panose="02020603050405020304" pitchFamily="18" charset="0"/>
                <a:cs typeface="Times New Roman" panose="02020603050405020304" pitchFamily="18" charset="0"/>
              </a:rPr>
              <a:t>256 GB SSD (for fast read/write of PDF materials and database).</a:t>
            </a:r>
          </a:p>
          <a:p>
            <a:pPr marL="457200" indent="-457200">
              <a:buFont typeface="Arial" panose="020B0604020202020204" pitchFamily="34" charset="0"/>
              <a:buChar char="•"/>
            </a:pPr>
            <a:r>
              <a:rPr lang="en-IN" sz="3000" b="1" dirty="0">
                <a:latin typeface="Times New Roman" panose="02020603050405020304" pitchFamily="18" charset="0"/>
                <a:cs typeface="Times New Roman" panose="02020603050405020304" pitchFamily="18" charset="0"/>
              </a:rPr>
              <a:t>Internet Connectivity: </a:t>
            </a:r>
            <a:r>
              <a:rPr lang="en-IN" sz="3000" dirty="0">
                <a:latin typeface="Times New Roman" panose="02020603050405020304" pitchFamily="18" charset="0"/>
                <a:cs typeface="Times New Roman" panose="02020603050405020304" pitchFamily="18" charset="0"/>
              </a:rPr>
              <a:t>High-speed internet connection (Minimum 5 Mbps) for real-time AI API calls.</a:t>
            </a:r>
          </a:p>
          <a:p>
            <a:endParaRPr lang="en-US" sz="18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spTree>
    <p:extLst>
      <p:ext uri="{BB962C8B-B14F-4D97-AF65-F5344CB8AC3E}">
        <p14:creationId xmlns:p14="http://schemas.microsoft.com/office/powerpoint/2010/main" val="3883169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97630C-3AF8-891B-DD42-4862B9EFB42E}"/>
              </a:ext>
            </a:extLst>
          </p:cNvPr>
          <p:cNvSpPr txBox="1"/>
          <p:nvPr/>
        </p:nvSpPr>
        <p:spPr>
          <a:xfrm>
            <a:off x="524008" y="227409"/>
            <a:ext cx="13582383" cy="7078861"/>
          </a:xfrm>
          <a:prstGeom prst="rect">
            <a:avLst/>
          </a:prstGeom>
          <a:noFill/>
        </p:spPr>
        <p:txBody>
          <a:bodyPr wrap="square">
            <a:spAutoFit/>
          </a:bodyPr>
          <a:lstStyle/>
          <a:p>
            <a:r>
              <a:rPr lang="en-US" sz="2800" b="1" dirty="0">
                <a:solidFill>
                  <a:srgbClr val="351C75"/>
                </a:solidFill>
                <a:latin typeface="Times New Roman" panose="02020603050405020304" pitchFamily="18" charset="0"/>
                <a:ea typeface="EB Garamond"/>
                <a:cs typeface="Times New Roman" panose="02020603050405020304" pitchFamily="18" charset="0"/>
                <a:sym typeface="EB Garamond"/>
              </a:rPr>
              <a:t>ALGORITHMS USED</a:t>
            </a:r>
          </a:p>
          <a:p>
            <a:endParaRPr lang="en-IN" sz="2800" dirty="0"/>
          </a:p>
          <a:p>
            <a:r>
              <a:rPr lang="en-US" sz="3000" b="1" dirty="0">
                <a:latin typeface="Times New Roman" panose="02020603050405020304" pitchFamily="18" charset="0"/>
                <a:cs typeface="Times New Roman" panose="02020603050405020304" pitchFamily="18" charset="0"/>
              </a:rPr>
              <a:t>Algorithm 1: Intelligent Content Synthesis &amp; Verification</a:t>
            </a:r>
            <a:endParaRPr lang="en-US" sz="30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Phase 1: </a:t>
            </a:r>
            <a:r>
              <a:rPr lang="en-US" sz="3000" dirty="0">
                <a:latin typeface="Times New Roman" panose="02020603050405020304" pitchFamily="18" charset="0"/>
                <a:cs typeface="Times New Roman" panose="02020603050405020304" pitchFamily="18" charset="0"/>
              </a:rPr>
              <a:t>Semantic Redundancy Check: Uses Cosine Similarity to detect if a topic has already been verified, saving computational costs.</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Phase 2: </a:t>
            </a:r>
            <a:r>
              <a:rPr lang="en-US" sz="3000" dirty="0">
                <a:latin typeface="Times New Roman" panose="02020603050405020304" pitchFamily="18" charset="0"/>
                <a:cs typeface="Times New Roman" panose="02020603050405020304" pitchFamily="18" charset="0"/>
              </a:rPr>
              <a:t>Context Injection: Programmatically extracts text from reference PDFs to ground the AI's response in "Source-of-Truth" data.</a:t>
            </a:r>
          </a:p>
          <a:p>
            <a:pPr marL="914400" lvl="1" indent="-457200">
              <a:buFont typeface="Arial" panose="020B0604020202020204" pitchFamily="34" charset="0"/>
              <a:buChar char="•"/>
            </a:pPr>
            <a:r>
              <a:rPr lang="en-US" sz="3000" b="1" dirty="0">
                <a:latin typeface="Times New Roman" panose="02020603050405020304" pitchFamily="18" charset="0"/>
                <a:cs typeface="Times New Roman" panose="02020603050405020304" pitchFamily="18" charset="0"/>
              </a:rPr>
              <a:t>Phase 3: </a:t>
            </a:r>
            <a:r>
              <a:rPr lang="en-US" sz="3000" dirty="0">
                <a:latin typeface="Times New Roman" panose="02020603050405020304" pitchFamily="18" charset="0"/>
                <a:cs typeface="Times New Roman" panose="02020603050405020304" pitchFamily="18" charset="0"/>
              </a:rPr>
              <a:t>State-Transition Model: Stages AI drafts as "Pending" until a Faculty member Reviews, Edits, or Approves the content.</a:t>
            </a:r>
          </a:p>
          <a:p>
            <a:r>
              <a:rPr lang="en-US" sz="3000" b="1" dirty="0">
                <a:latin typeface="Times New Roman" panose="02020603050405020304" pitchFamily="18" charset="0"/>
                <a:cs typeface="Times New Roman" panose="02020603050405020304" pitchFamily="18" charset="0"/>
              </a:rPr>
              <a:t>Algorithm 2: Dynamic Academic Filtering (Zero-Search Logic)</a:t>
            </a:r>
            <a:endParaRPr lang="en-US" sz="30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Implements Session-Based Profiling to automatically execute filtered SQL queries.</a:t>
            </a:r>
          </a:p>
          <a:p>
            <a:pPr marL="914400" lvl="1"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Ensures students are instantly presented with materials relevant only to their specific Department, Year, and Semester.</a:t>
            </a:r>
          </a:p>
          <a:p>
            <a:pPr marL="342900" indent="-342900">
              <a:buFont typeface="Arial" panose="020B0604020202020204" pitchFamily="34" charset="0"/>
              <a:buChar char="•"/>
            </a:pPr>
            <a:endParaRPr lang="en-IN" sz="2000" b="1" dirty="0"/>
          </a:p>
          <a:p>
            <a:endParaRPr lang="en-IN" dirty="0"/>
          </a:p>
        </p:txBody>
      </p:sp>
    </p:spTree>
    <p:extLst>
      <p:ext uri="{BB962C8B-B14F-4D97-AF65-F5344CB8AC3E}">
        <p14:creationId xmlns:p14="http://schemas.microsoft.com/office/powerpoint/2010/main" val="1400148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71F68-775C-B3F2-DE89-670B7A35F6D3}"/>
              </a:ext>
            </a:extLst>
          </p:cNvPr>
          <p:cNvSpPr txBox="1"/>
          <p:nvPr/>
        </p:nvSpPr>
        <p:spPr>
          <a:xfrm>
            <a:off x="939800" y="228600"/>
            <a:ext cx="12725400" cy="7023140"/>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ALGORITHMS USED</a:t>
            </a: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a:p>
            <a:r>
              <a:rPr lang="en-IN" sz="3000" b="1" dirty="0">
                <a:latin typeface="Times New Roman" panose="02020603050405020304" pitchFamily="18" charset="0"/>
                <a:cs typeface="Times New Roman" panose="02020603050405020304" pitchFamily="18" charset="0"/>
              </a:rPr>
              <a:t>Algorithm 3: Automated SMTP Notification &amp; Broadcast</a:t>
            </a:r>
            <a:endParaRPr lang="en-IN" sz="30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Identifies target student mailing lists based on subject mapping.</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Executes a Linguistic Broadcast Service via secure SMTP (Simple Mail Transfer Protocol) with TLS encryption.</a:t>
            </a:r>
          </a:p>
          <a:p>
            <a:r>
              <a:rPr lang="en-IN" sz="3000" b="1" dirty="0">
                <a:latin typeface="Times New Roman" panose="02020603050405020304" pitchFamily="18" charset="0"/>
                <a:cs typeface="Times New Roman" panose="02020603050405020304" pitchFamily="18" charset="0"/>
              </a:rPr>
              <a:t>Algorithm 4: Automated PDF Documentation Engine</a:t>
            </a:r>
            <a:endParaRPr lang="en-IN" sz="30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Handles the Transformation of Structured AI Data into portable binary formats using the FPDF engine.</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Includes automated text sanitization and academic layout styling.</a:t>
            </a:r>
          </a:p>
          <a:p>
            <a:r>
              <a:rPr lang="en-IN" sz="3000" b="1" dirty="0">
                <a:latin typeface="Times New Roman" panose="02020603050405020304" pitchFamily="18" charset="0"/>
                <a:cs typeface="Times New Roman" panose="02020603050405020304" pitchFamily="18" charset="0"/>
              </a:rPr>
              <a:t>Algorithm 5: Secure RBAC Authentication Logic</a:t>
            </a:r>
            <a:endParaRPr lang="en-IN" sz="30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Implements Role-Based Access Control (RBAC) for Student, Faculty, and Admin gateways.</a:t>
            </a:r>
          </a:p>
          <a:p>
            <a:pPr marL="914400" lvl="1"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Uses PBKDF2 Hash Verification to ensure cryptographically secure user authentication.</a:t>
            </a:r>
          </a:p>
        </p:txBody>
      </p:sp>
    </p:spTree>
    <p:extLst>
      <p:ext uri="{BB962C8B-B14F-4D97-AF65-F5344CB8AC3E}">
        <p14:creationId xmlns:p14="http://schemas.microsoft.com/office/powerpoint/2010/main" val="2824319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FC41-541C-46EA-4CB2-4B0BB10106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B9E33-0A24-28EC-254D-2CCCA16FB954}"/>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Login Page:</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5" name="Picture 4">
            <a:extLst>
              <a:ext uri="{FF2B5EF4-FFF2-40B4-BE49-F238E27FC236}">
                <a16:creationId xmlns:a16="http://schemas.microsoft.com/office/drawing/2014/main" id="{ADD8E003-409E-F7D9-61E1-CC9458518B2E}"/>
              </a:ext>
            </a:extLst>
          </p:cNvPr>
          <p:cNvPicPr>
            <a:picLocks noChangeAspect="1"/>
          </p:cNvPicPr>
          <p:nvPr/>
        </p:nvPicPr>
        <p:blipFill>
          <a:blip r:embed="rId2"/>
          <a:srcRect t="3237" b="7363"/>
          <a:stretch>
            <a:fillRect/>
          </a:stretch>
        </p:blipFill>
        <p:spPr>
          <a:xfrm>
            <a:off x="1902759" y="1401016"/>
            <a:ext cx="10824882" cy="5443537"/>
          </a:xfrm>
          <a:prstGeom prst="rect">
            <a:avLst/>
          </a:prstGeom>
        </p:spPr>
      </p:pic>
    </p:spTree>
    <p:extLst>
      <p:ext uri="{BB962C8B-B14F-4D97-AF65-F5344CB8AC3E}">
        <p14:creationId xmlns:p14="http://schemas.microsoft.com/office/powerpoint/2010/main" val="1349051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4CA2C-D55A-BA8B-8C5B-176E5011D0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E5A8EA-BDC6-5F0B-1AAC-8853B9162305}"/>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Admin Login :</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4" name="Picture 3">
            <a:extLst>
              <a:ext uri="{FF2B5EF4-FFF2-40B4-BE49-F238E27FC236}">
                <a16:creationId xmlns:a16="http://schemas.microsoft.com/office/drawing/2014/main" id="{CE53F898-A72C-D462-A47A-E050EEDFD6D9}"/>
              </a:ext>
            </a:extLst>
          </p:cNvPr>
          <p:cNvPicPr>
            <a:picLocks noChangeAspect="1"/>
          </p:cNvPicPr>
          <p:nvPr/>
        </p:nvPicPr>
        <p:blipFill>
          <a:blip r:embed="rId2"/>
          <a:srcRect b="9415"/>
          <a:stretch>
            <a:fillRect/>
          </a:stretch>
        </p:blipFill>
        <p:spPr>
          <a:xfrm>
            <a:off x="1983441" y="1639700"/>
            <a:ext cx="10663518" cy="5433453"/>
          </a:xfrm>
          <a:prstGeom prst="rect">
            <a:avLst/>
          </a:prstGeom>
        </p:spPr>
      </p:pic>
    </p:spTree>
    <p:extLst>
      <p:ext uri="{BB962C8B-B14F-4D97-AF65-F5344CB8AC3E}">
        <p14:creationId xmlns:p14="http://schemas.microsoft.com/office/powerpoint/2010/main" val="2908538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AEAC2-ABDE-666F-CC36-936FFA980A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D8B93C-E6FE-A42F-844E-8726FC924C9F}"/>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Admin dashboard :</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5" name="Picture 4">
            <a:extLst>
              <a:ext uri="{FF2B5EF4-FFF2-40B4-BE49-F238E27FC236}">
                <a16:creationId xmlns:a16="http://schemas.microsoft.com/office/drawing/2014/main" id="{C5A7A580-66DE-8EDB-C5F7-D740EDB100C8}"/>
              </a:ext>
            </a:extLst>
          </p:cNvPr>
          <p:cNvPicPr>
            <a:picLocks noChangeAspect="1"/>
          </p:cNvPicPr>
          <p:nvPr/>
        </p:nvPicPr>
        <p:blipFill>
          <a:blip r:embed="rId2"/>
          <a:srcRect t="-4047" b="5477"/>
          <a:stretch>
            <a:fillRect/>
          </a:stretch>
        </p:blipFill>
        <p:spPr>
          <a:xfrm>
            <a:off x="2366682" y="1331259"/>
            <a:ext cx="9897035" cy="5567082"/>
          </a:xfrm>
          <a:prstGeom prst="rect">
            <a:avLst/>
          </a:prstGeom>
        </p:spPr>
      </p:pic>
    </p:spTree>
    <p:extLst>
      <p:ext uri="{BB962C8B-B14F-4D97-AF65-F5344CB8AC3E}">
        <p14:creationId xmlns:p14="http://schemas.microsoft.com/office/powerpoint/2010/main" val="648392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893DF-4494-4C42-9186-7AEEBDA54C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91EFA5-76CF-98A6-6C43-4EDBE3F3CC76}"/>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Student  Management:</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7" name="Picture 6">
            <a:extLst>
              <a:ext uri="{FF2B5EF4-FFF2-40B4-BE49-F238E27FC236}">
                <a16:creationId xmlns:a16="http://schemas.microsoft.com/office/drawing/2014/main" id="{CB1F710C-CCD2-350F-E885-40D651EE94F7}"/>
              </a:ext>
            </a:extLst>
          </p:cNvPr>
          <p:cNvPicPr>
            <a:picLocks noChangeAspect="1"/>
          </p:cNvPicPr>
          <p:nvPr/>
        </p:nvPicPr>
        <p:blipFill>
          <a:blip r:embed="rId2"/>
          <a:srcRect b="6147"/>
          <a:stretch>
            <a:fillRect/>
          </a:stretch>
        </p:blipFill>
        <p:spPr>
          <a:xfrm>
            <a:off x="2535223" y="1586752"/>
            <a:ext cx="10748977" cy="5674659"/>
          </a:xfrm>
          <a:prstGeom prst="rect">
            <a:avLst/>
          </a:prstGeom>
        </p:spPr>
      </p:pic>
    </p:spTree>
    <p:extLst>
      <p:ext uri="{BB962C8B-B14F-4D97-AF65-F5344CB8AC3E}">
        <p14:creationId xmlns:p14="http://schemas.microsoft.com/office/powerpoint/2010/main" val="851096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E8157-25DD-8BB5-DCD7-DAC792DA83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DF3F81-FB12-BCE1-0D64-77533453880F}"/>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Student Dashboard:</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4" name="Picture 3">
            <a:extLst>
              <a:ext uri="{FF2B5EF4-FFF2-40B4-BE49-F238E27FC236}">
                <a16:creationId xmlns:a16="http://schemas.microsoft.com/office/drawing/2014/main" id="{E2ACA0A8-0531-B7F7-35B4-71FA9C6F8C66}"/>
              </a:ext>
            </a:extLst>
          </p:cNvPr>
          <p:cNvPicPr>
            <a:picLocks noChangeAspect="1"/>
          </p:cNvPicPr>
          <p:nvPr/>
        </p:nvPicPr>
        <p:blipFill>
          <a:blip r:embed="rId2"/>
          <a:srcRect b="9260"/>
          <a:stretch>
            <a:fillRect/>
          </a:stretch>
        </p:blipFill>
        <p:spPr>
          <a:xfrm>
            <a:off x="2463413" y="1584231"/>
            <a:ext cx="11201787" cy="5717521"/>
          </a:xfrm>
          <a:prstGeom prst="rect">
            <a:avLst/>
          </a:prstGeom>
        </p:spPr>
      </p:pic>
    </p:spTree>
    <p:extLst>
      <p:ext uri="{BB962C8B-B14F-4D97-AF65-F5344CB8AC3E}">
        <p14:creationId xmlns:p14="http://schemas.microsoft.com/office/powerpoint/2010/main" val="384626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E404-9184-1CAF-D3DC-6576289397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C1B14C-B649-90CE-859F-862336A5DC09}"/>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r>
              <a:rPr lang="en-IN" sz="3000" dirty="0">
                <a:latin typeface="Times New Roman" panose="02020603050405020304" pitchFamily="18" charset="0"/>
                <a:cs typeface="Times New Roman" panose="02020603050405020304" pitchFamily="18" charset="0"/>
              </a:rPr>
              <a:t> </a:t>
            </a:r>
          </a:p>
          <a:p>
            <a:r>
              <a:rPr lang="en-IN" sz="3000" dirty="0">
                <a:latin typeface="Times New Roman" panose="02020603050405020304" pitchFamily="18" charset="0"/>
                <a:cs typeface="Times New Roman" panose="02020603050405020304" pitchFamily="18" charset="0"/>
              </a:rPr>
              <a:t>Subject Selection:</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5" name="Picture 4">
            <a:extLst>
              <a:ext uri="{FF2B5EF4-FFF2-40B4-BE49-F238E27FC236}">
                <a16:creationId xmlns:a16="http://schemas.microsoft.com/office/drawing/2014/main" id="{39CB2EFB-AFD1-90AE-AFA2-BF1F54678318}"/>
              </a:ext>
            </a:extLst>
          </p:cNvPr>
          <p:cNvPicPr>
            <a:picLocks noChangeAspect="1"/>
          </p:cNvPicPr>
          <p:nvPr/>
        </p:nvPicPr>
        <p:blipFill>
          <a:blip r:embed="rId2"/>
          <a:srcRect b="12419"/>
          <a:stretch>
            <a:fillRect/>
          </a:stretch>
        </p:blipFill>
        <p:spPr>
          <a:xfrm>
            <a:off x="1774453" y="1567842"/>
            <a:ext cx="11175065" cy="5505311"/>
          </a:xfrm>
          <a:prstGeom prst="rect">
            <a:avLst/>
          </a:prstGeom>
        </p:spPr>
      </p:pic>
    </p:spTree>
    <p:extLst>
      <p:ext uri="{BB962C8B-B14F-4D97-AF65-F5344CB8AC3E}">
        <p14:creationId xmlns:p14="http://schemas.microsoft.com/office/powerpoint/2010/main" val="3960999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FDAA-EC8E-9B7D-9EBF-A1E8A2246DE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F07535-DB04-9BA1-4C4F-1A2F7691B308}"/>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AI Content Generation:</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4" name="Picture 3">
            <a:extLst>
              <a:ext uri="{FF2B5EF4-FFF2-40B4-BE49-F238E27FC236}">
                <a16:creationId xmlns:a16="http://schemas.microsoft.com/office/drawing/2014/main" id="{D7E4D641-D02C-B355-67E4-0D0FF68423D2}"/>
              </a:ext>
            </a:extLst>
          </p:cNvPr>
          <p:cNvPicPr>
            <a:picLocks noChangeAspect="1"/>
          </p:cNvPicPr>
          <p:nvPr/>
        </p:nvPicPr>
        <p:blipFill>
          <a:blip r:embed="rId2"/>
          <a:srcRect t="8304" b="6164"/>
          <a:stretch>
            <a:fillRect/>
          </a:stretch>
        </p:blipFill>
        <p:spPr>
          <a:xfrm>
            <a:off x="2451100" y="1409700"/>
            <a:ext cx="9159524" cy="4406900"/>
          </a:xfrm>
          <a:prstGeom prst="rect">
            <a:avLst/>
          </a:prstGeom>
        </p:spPr>
      </p:pic>
    </p:spTree>
    <p:extLst>
      <p:ext uri="{BB962C8B-B14F-4D97-AF65-F5344CB8AC3E}">
        <p14:creationId xmlns:p14="http://schemas.microsoft.com/office/powerpoint/2010/main" val="1386647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1D2C-E579-328F-63E3-EB82F21F83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B7A1DB9-9770-80B0-A798-F3095B94D4F0}"/>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History Page:</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5" name="Picture 4">
            <a:extLst>
              <a:ext uri="{FF2B5EF4-FFF2-40B4-BE49-F238E27FC236}">
                <a16:creationId xmlns:a16="http://schemas.microsoft.com/office/drawing/2014/main" id="{8BEFF449-16B6-D68A-A396-C9D1FC1534A5}"/>
              </a:ext>
            </a:extLst>
          </p:cNvPr>
          <p:cNvPicPr>
            <a:picLocks noChangeAspect="1"/>
          </p:cNvPicPr>
          <p:nvPr/>
        </p:nvPicPr>
        <p:blipFill>
          <a:blip r:embed="rId2"/>
          <a:srcRect b="6676"/>
          <a:stretch>
            <a:fillRect/>
          </a:stretch>
        </p:blipFill>
        <p:spPr>
          <a:xfrm>
            <a:off x="2770094" y="1540528"/>
            <a:ext cx="9668435" cy="5075425"/>
          </a:xfrm>
          <a:prstGeom prst="rect">
            <a:avLst/>
          </a:prstGeom>
        </p:spPr>
      </p:pic>
    </p:spTree>
    <p:extLst>
      <p:ext uri="{BB962C8B-B14F-4D97-AF65-F5344CB8AC3E}">
        <p14:creationId xmlns:p14="http://schemas.microsoft.com/office/powerpoint/2010/main" val="2384610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FA1B-096D-864B-8019-AD6FE3DFE2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1AEF58-9DB7-DE05-B451-993264CF9F91}"/>
              </a:ext>
            </a:extLst>
          </p:cNvPr>
          <p:cNvSpPr txBox="1"/>
          <p:nvPr/>
        </p:nvSpPr>
        <p:spPr>
          <a:xfrm>
            <a:off x="1346200" y="234434"/>
            <a:ext cx="12319000" cy="193899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Email alert to faculty:</a:t>
            </a:r>
          </a:p>
          <a:p>
            <a:endParaRPr lang="en-IN" sz="3000" dirty="0">
              <a:latin typeface="Times New Roman" panose="02020603050405020304" pitchFamily="18" charset="0"/>
              <a:cs typeface="Times New Roman" panose="02020603050405020304" pitchFamily="18" charset="0"/>
            </a:endParaRPr>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4" name="Picture 3">
            <a:extLst>
              <a:ext uri="{FF2B5EF4-FFF2-40B4-BE49-F238E27FC236}">
                <a16:creationId xmlns:a16="http://schemas.microsoft.com/office/drawing/2014/main" id="{2D5C58BF-5A9E-C88A-FFE5-10D5A967C167}"/>
              </a:ext>
            </a:extLst>
          </p:cNvPr>
          <p:cNvPicPr>
            <a:picLocks noChangeAspect="1"/>
          </p:cNvPicPr>
          <p:nvPr/>
        </p:nvPicPr>
        <p:blipFill>
          <a:blip r:embed="rId2"/>
          <a:srcRect b="15864"/>
          <a:stretch>
            <a:fillRect/>
          </a:stretch>
        </p:blipFill>
        <p:spPr>
          <a:xfrm>
            <a:off x="3039035" y="1746436"/>
            <a:ext cx="9493624" cy="4492999"/>
          </a:xfrm>
          <a:prstGeom prst="rect">
            <a:avLst/>
          </a:prstGeom>
        </p:spPr>
      </p:pic>
    </p:spTree>
    <p:extLst>
      <p:ext uri="{BB962C8B-B14F-4D97-AF65-F5344CB8AC3E}">
        <p14:creationId xmlns:p14="http://schemas.microsoft.com/office/powerpoint/2010/main" val="4094122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D67B-9E00-CF88-5901-3D6BDF8366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64D9C2-7772-C1E1-BB33-5EF79C3CA00A}"/>
              </a:ext>
            </a:extLst>
          </p:cNvPr>
          <p:cNvSpPr txBox="1"/>
          <p:nvPr/>
        </p:nvSpPr>
        <p:spPr>
          <a:xfrm>
            <a:off x="1155700" y="259834"/>
            <a:ext cx="12319000" cy="2862322"/>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sz="3000" dirty="0">
                <a:latin typeface="Times New Roman" panose="02020603050405020304" pitchFamily="18" charset="0"/>
                <a:cs typeface="Times New Roman" panose="02020603050405020304" pitchFamily="18" charset="0"/>
              </a:rPr>
              <a:t>The Faculty Verification Hub:</a:t>
            </a:r>
          </a:p>
          <a:p>
            <a:endParaRPr lang="en-IN" sz="3000" dirty="0">
              <a:latin typeface="Times New Roman" panose="02020603050405020304" pitchFamily="18" charset="0"/>
              <a:cs typeface="Times New Roman" panose="02020603050405020304" pitchFamily="18" charset="0"/>
            </a:endParaRPr>
          </a:p>
          <a:p>
            <a:endParaRPr lang="en-IN" sz="3000" dirty="0"/>
          </a:p>
          <a:p>
            <a:endParaRPr lang="en-IN" sz="3000" dirty="0"/>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5" name="Picture 4">
            <a:extLst>
              <a:ext uri="{FF2B5EF4-FFF2-40B4-BE49-F238E27FC236}">
                <a16:creationId xmlns:a16="http://schemas.microsoft.com/office/drawing/2014/main" id="{9635A209-5844-D0A7-AAD2-37DCFCB19965}"/>
              </a:ext>
            </a:extLst>
          </p:cNvPr>
          <p:cNvPicPr>
            <a:picLocks noChangeAspect="1"/>
          </p:cNvPicPr>
          <p:nvPr/>
        </p:nvPicPr>
        <p:blipFill>
          <a:blip r:embed="rId2"/>
          <a:srcRect l="440" t="9417" r="-440" b="8391"/>
          <a:stretch>
            <a:fillRect/>
          </a:stretch>
        </p:blipFill>
        <p:spPr>
          <a:xfrm>
            <a:off x="1759656" y="1574800"/>
            <a:ext cx="11537244" cy="5334000"/>
          </a:xfrm>
          <a:prstGeom prst="rect">
            <a:avLst/>
          </a:prstGeom>
        </p:spPr>
      </p:pic>
    </p:spTree>
    <p:extLst>
      <p:ext uri="{BB962C8B-B14F-4D97-AF65-F5344CB8AC3E}">
        <p14:creationId xmlns:p14="http://schemas.microsoft.com/office/powerpoint/2010/main" val="1744091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4DDCB-5C93-860C-2428-FD9EADB812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6D4F58-6BE6-49D7-D8DD-222FC521AA1D}"/>
              </a:ext>
            </a:extLst>
          </p:cNvPr>
          <p:cNvSpPr txBox="1"/>
          <p:nvPr/>
        </p:nvSpPr>
        <p:spPr>
          <a:xfrm>
            <a:off x="876300" y="170934"/>
            <a:ext cx="12319000" cy="3323987"/>
          </a:xfrm>
          <a:prstGeom prst="rect">
            <a:avLst/>
          </a:prstGeom>
          <a:noFill/>
        </p:spPr>
        <p:txBody>
          <a:bodyPr wrap="square">
            <a:spAutoFit/>
          </a:bodyPr>
          <a:lstStyle/>
          <a:p>
            <a:r>
              <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rPr>
              <a:t>SCREENSHOTS</a:t>
            </a:r>
          </a:p>
          <a:p>
            <a:r>
              <a:rPr lang="en-IN" dirty="0"/>
              <a:t> </a:t>
            </a:r>
            <a:r>
              <a:rPr lang="en-IN" sz="3000" dirty="0">
                <a:latin typeface="Times New Roman" panose="02020603050405020304" pitchFamily="18" charset="0"/>
                <a:cs typeface="Times New Roman" panose="02020603050405020304" pitchFamily="18" charset="0"/>
              </a:rPr>
              <a:t>Automated SMTP Notification:</a:t>
            </a:r>
          </a:p>
          <a:p>
            <a:endParaRPr lang="en-IN" sz="3000" dirty="0">
              <a:latin typeface="Times New Roman" panose="02020603050405020304" pitchFamily="18" charset="0"/>
              <a:cs typeface="Times New Roman" panose="02020603050405020304" pitchFamily="18" charset="0"/>
            </a:endParaRPr>
          </a:p>
          <a:p>
            <a:endParaRPr lang="en-IN" sz="3000" dirty="0">
              <a:latin typeface="Times New Roman" panose="02020603050405020304" pitchFamily="18" charset="0"/>
              <a:cs typeface="Times New Roman" panose="02020603050405020304" pitchFamily="18" charset="0"/>
            </a:endParaRPr>
          </a:p>
          <a:p>
            <a:endParaRPr lang="en-IN" sz="3000" dirty="0"/>
          </a:p>
          <a:p>
            <a:endParaRPr lang="en-IN" sz="3000" dirty="0"/>
          </a:p>
          <a:p>
            <a:endParaRPr lang="en-US" sz="3000" b="1" dirty="0">
              <a:solidFill>
                <a:srgbClr val="351C75"/>
              </a:solidFill>
              <a:latin typeface="Times New Roman" panose="02020603050405020304" pitchFamily="18" charset="0"/>
              <a:ea typeface="EB Garamond"/>
              <a:cs typeface="Times New Roman" panose="02020603050405020304" pitchFamily="18" charset="0"/>
              <a:sym typeface="EB Garamond"/>
            </a:endParaRPr>
          </a:p>
        </p:txBody>
      </p:sp>
      <p:pic>
        <p:nvPicPr>
          <p:cNvPr id="4" name="Picture 3">
            <a:extLst>
              <a:ext uri="{FF2B5EF4-FFF2-40B4-BE49-F238E27FC236}">
                <a16:creationId xmlns:a16="http://schemas.microsoft.com/office/drawing/2014/main" id="{39AA0853-AA28-0A5D-A820-60B7A626F6A8}"/>
              </a:ext>
            </a:extLst>
          </p:cNvPr>
          <p:cNvPicPr>
            <a:picLocks noChangeAspect="1"/>
          </p:cNvPicPr>
          <p:nvPr/>
        </p:nvPicPr>
        <p:blipFill>
          <a:blip r:embed="rId3"/>
          <a:stretch>
            <a:fillRect/>
          </a:stretch>
        </p:blipFill>
        <p:spPr>
          <a:xfrm>
            <a:off x="1841500" y="1411516"/>
            <a:ext cx="10947400" cy="5818441"/>
          </a:xfrm>
          <a:prstGeom prst="rect">
            <a:avLst/>
          </a:prstGeom>
        </p:spPr>
      </p:pic>
    </p:spTree>
    <p:extLst>
      <p:ext uri="{BB962C8B-B14F-4D97-AF65-F5344CB8AC3E}">
        <p14:creationId xmlns:p14="http://schemas.microsoft.com/office/powerpoint/2010/main" val="712934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p:nvPr/>
        </p:nvSpPr>
        <p:spPr>
          <a:xfrm>
            <a:off x="319848" y="1524000"/>
            <a:ext cx="13700951" cy="5416837"/>
          </a:xfrm>
          <a:prstGeom prst="rect">
            <a:avLst/>
          </a:prstGeom>
          <a:noFill/>
          <a:ln>
            <a:noFill/>
          </a:ln>
        </p:spPr>
        <p:txBody>
          <a:bodyPr spcFirstLastPara="1" wrap="square" lIns="91425" tIns="91425" rIns="91425" bIns="91425" anchor="t" anchorCtr="0">
            <a:spAutoFit/>
          </a:bodyPr>
          <a:lstStyle/>
          <a:p>
            <a:pPr>
              <a:buClr>
                <a:schemeClr val="dk1"/>
              </a:buClr>
              <a:buSzPts val="1100"/>
            </a:pPr>
            <a:r>
              <a:rPr lang="en-US" sz="3600" b="1" dirty="0">
                <a:solidFill>
                  <a:srgbClr val="351C75"/>
                </a:solidFill>
                <a:latin typeface="Times New Roman" panose="02020603050405020304" pitchFamily="18" charset="0"/>
                <a:ea typeface="EB Garamond"/>
                <a:cs typeface="Times New Roman" panose="02020603050405020304" pitchFamily="18" charset="0"/>
                <a:sym typeface="EB Garamond"/>
              </a:rPr>
              <a:t>CONCLUSION</a:t>
            </a:r>
          </a:p>
          <a:p>
            <a:r>
              <a:rPr lang="en-US"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In conclusion, this project successfully demonstrates how Generative AI, when combined with a structured verification workflow, can revolutionize academic content management. By utilizing the Llama-3 model and </a:t>
            </a:r>
            <a:r>
              <a:rPr lang="en-US" sz="3000" dirty="0" err="1">
                <a:latin typeface="Times New Roman" panose="02020603050405020304" pitchFamily="18" charset="0"/>
                <a:cs typeface="Times New Roman" panose="02020603050405020304" pitchFamily="18" charset="0"/>
              </a:rPr>
              <a:t>Groq</a:t>
            </a:r>
            <a:r>
              <a:rPr lang="en-US" sz="3000" dirty="0">
                <a:latin typeface="Times New Roman" panose="02020603050405020304" pitchFamily="18" charset="0"/>
                <a:cs typeface="Times New Roman" panose="02020603050405020304" pitchFamily="18" charset="0"/>
              </a:rPr>
              <a:t> LPU technology, the system delivers high-quality, syllabus-aligned resources almost instantly. The inclusion of a mandatory faculty review process ensures that the speed of AI is balanced with the accuracy and integrity required in higher education. Ultimately, this system serves as a powerful tool for reducing faculty administrative burdens while providing students with verified, accessible, and personalized study materials to enhance their academic performance.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56162094-35E7-D399-75D6-4DF3A6339B88}"/>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id="{7076014C-2409-50EC-3899-9FB36E2B7492}"/>
              </a:ext>
            </a:extLst>
          </p:cNvPr>
          <p:cNvSpPr txBox="1"/>
          <p:nvPr/>
        </p:nvSpPr>
        <p:spPr>
          <a:xfrm>
            <a:off x="558800" y="254000"/>
            <a:ext cx="13497859" cy="7201941"/>
          </a:xfrm>
          <a:prstGeom prst="rect">
            <a:avLst/>
          </a:prstGeom>
          <a:noFill/>
          <a:ln>
            <a:noFill/>
          </a:ln>
        </p:spPr>
        <p:txBody>
          <a:bodyPr spcFirstLastPara="1" wrap="square" lIns="91425" tIns="91425" rIns="91425" bIns="91425" anchor="t" anchorCtr="0">
            <a:spAutoFit/>
          </a:bodyPr>
          <a:lstStyle/>
          <a:p>
            <a:pPr algn="just">
              <a:buClr>
                <a:schemeClr val="dk1"/>
              </a:buClr>
              <a:buSzPts val="1100"/>
            </a:pPr>
            <a:r>
              <a:rPr lang="en-US" sz="3600" b="1" dirty="0">
                <a:solidFill>
                  <a:srgbClr val="351C75"/>
                </a:solidFill>
                <a:latin typeface="Times New Roman" panose="02020603050405020304" pitchFamily="18" charset="0"/>
                <a:ea typeface="EB Garamond"/>
                <a:cs typeface="Times New Roman" panose="02020603050405020304" pitchFamily="18" charset="0"/>
                <a:sym typeface="EB Garamond"/>
              </a:rPr>
              <a:t>REFERENCES</a:t>
            </a:r>
          </a:p>
          <a:p>
            <a:pPr algn="just"/>
            <a:endParaRPr lang="en-US" sz="3600" b="1" dirty="0">
              <a:solidFill>
                <a:srgbClr val="351C75"/>
              </a:solidFill>
              <a:latin typeface="Times New Roman" panose="02020603050405020304" pitchFamily="18" charset="0"/>
              <a:ea typeface="EB Garamond"/>
              <a:cs typeface="Times New Roman" panose="02020603050405020304" pitchFamily="18" charset="0"/>
              <a:sym typeface="EB Garamond"/>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Rutecka, M. (2025) ‘Generative AI in Curriculum Design: An Empirical Study on Faculty Perceptions and Interdisciplinary Mapping’, IEEE Transactions on Learning Technologies. </a:t>
            </a:r>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Baidoo-Anu, D. and Ansah, L. (2023) ‘The Rise of Generative Artificial Intelligence and Its Impact on Education: The Promises and Perils’, International Journal of Educational Research.</a:t>
            </a:r>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dirty="0" err="1">
                <a:latin typeface="Times New Roman" panose="02020603050405020304" pitchFamily="18" charset="0"/>
                <a:cs typeface="Times New Roman" panose="02020603050405020304" pitchFamily="18" charset="0"/>
              </a:rPr>
              <a:t>Bidry</a:t>
            </a:r>
            <a:r>
              <a:rPr lang="en-US" sz="2400" dirty="0">
                <a:latin typeface="Times New Roman" panose="02020603050405020304" pitchFamily="18" charset="0"/>
                <a:cs typeface="Times New Roman" panose="02020603050405020304" pitchFamily="18" charset="0"/>
              </a:rPr>
              <a:t>, M. (2024) ‘Transforming Education with Generative AI: A Comprehensive Review of Advancements, Challenges, and Future Opportunities’, International Journal of Science and Research (IJSR). </a:t>
            </a:r>
          </a:p>
          <a:p>
            <a:pPr marL="457200" indent="-457200" algn="just">
              <a:buFont typeface="+mj-lt"/>
              <a:buAutoNum type="arabicPeriod"/>
            </a:pPr>
            <a:endParaRPr lang="en-IN" sz="2400" dirty="0">
              <a:solidFill>
                <a:schemeClr val="dk1"/>
              </a:solidFill>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Chen, E., Lin, H., Huang, C., Hsieh, W., Chang, T. and Yang, C. (2024) ‘A Systematic Review on Prompt Engineering in Large Language Models for K-12 STEM Education’,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preprint arXiv:2410.11123. </a:t>
            </a:r>
          </a:p>
          <a:p>
            <a:pPr marL="457200" indent="-457200" algn="just">
              <a:buFont typeface="+mj-lt"/>
              <a:buAutoNum type="arabicPeriod"/>
            </a:pPr>
            <a:endParaRPr lang="en-IN" sz="2400" dirty="0">
              <a:solidFill>
                <a:schemeClr val="dk1"/>
              </a:solidFill>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Cooper, G. (2023) ‘Examining Science Education in ChatGPT: An Exploratory Study of Generative Artificial Intelligence’, Journal of Science Education and Technology, Vol. 32, pp. 444–452.</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8032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F761F7-59B7-D6A0-CFB6-A021C41CBBF8}"/>
              </a:ext>
            </a:extLst>
          </p:cNvPr>
          <p:cNvSpPr txBox="1"/>
          <p:nvPr/>
        </p:nvSpPr>
        <p:spPr>
          <a:xfrm>
            <a:off x="838200" y="347802"/>
            <a:ext cx="12306300" cy="7017306"/>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6.	</a:t>
            </a:r>
            <a:r>
              <a:rPr lang="en-IN" sz="2400" dirty="0" err="1">
                <a:latin typeface="Times New Roman" panose="02020603050405020304" pitchFamily="18" charset="0"/>
                <a:cs typeface="Times New Roman" panose="02020603050405020304" pitchFamily="18" charset="0"/>
              </a:rPr>
              <a:t>Farrokhnia</a:t>
            </a:r>
            <a:r>
              <a:rPr lang="en-IN" sz="2400" dirty="0">
                <a:latin typeface="Times New Roman" panose="02020603050405020304" pitchFamily="18" charset="0"/>
                <a:cs typeface="Times New Roman" panose="02020603050405020304" pitchFamily="18" charset="0"/>
              </a:rPr>
              <a:t>, M., </a:t>
            </a:r>
            <a:r>
              <a:rPr lang="en-IN" sz="2400" dirty="0" err="1">
                <a:latin typeface="Times New Roman" panose="02020603050405020304" pitchFamily="18" charset="0"/>
                <a:cs typeface="Times New Roman" panose="02020603050405020304" pitchFamily="18" charset="0"/>
              </a:rPr>
              <a:t>Banihashem</a:t>
            </a:r>
            <a:r>
              <a:rPr lang="en-IN" sz="2400" dirty="0">
                <a:latin typeface="Times New Roman" panose="02020603050405020304" pitchFamily="18" charset="0"/>
                <a:cs typeface="Times New Roman" panose="02020603050405020304" pitchFamily="18" charset="0"/>
              </a:rPr>
              <a:t>, S. K., </a:t>
            </a:r>
            <a:r>
              <a:rPr lang="en-IN" sz="2400" dirty="0" err="1">
                <a:latin typeface="Times New Roman" panose="02020603050405020304" pitchFamily="18" charset="0"/>
                <a:cs typeface="Times New Roman" panose="02020603050405020304" pitchFamily="18" charset="0"/>
              </a:rPr>
              <a:t>Noroozi</a:t>
            </a:r>
            <a:r>
              <a:rPr lang="en-IN" sz="2400" dirty="0">
                <a:latin typeface="Times New Roman" panose="02020603050405020304" pitchFamily="18" charset="0"/>
                <a:cs typeface="Times New Roman" panose="02020603050405020304" pitchFamily="18" charset="0"/>
              </a:rPr>
              <a:t>, O. and Wals, A. (2024) ‘A SWOT Analysis of ChatGPT: Implications for Educational Practice and Research’, Innovative Education and Teaching International, Vol. 61, No. 3, pp. 460–474.</a:t>
            </a:r>
          </a:p>
          <a:p>
            <a:pPr algn="just"/>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7.	Farrukh, M., Tlili, A. and Huang, R. (2023) ‘Are Generative AI Technologies Transforming Education for the 21st Century? A Comprehensive Literature Review’, Journal of Educational Computing Research. </a:t>
            </a:r>
          </a:p>
          <a:p>
            <a:pPr algn="just"/>
            <a:endParaRPr lang="en-IN" dirty="0"/>
          </a:p>
          <a:p>
            <a:pPr algn="just"/>
            <a:r>
              <a:rPr lang="en-IN" sz="2400" dirty="0">
                <a:latin typeface="Times New Roman" panose="02020603050405020304" pitchFamily="18" charset="0"/>
                <a:cs typeface="Times New Roman" panose="02020603050405020304" pitchFamily="18" charset="0"/>
              </a:rPr>
              <a:t>8.	</a:t>
            </a:r>
            <a:r>
              <a:rPr lang="en-IN" sz="2400" dirty="0" err="1">
                <a:latin typeface="Times New Roman" panose="02020603050405020304" pitchFamily="18" charset="0"/>
                <a:cs typeface="Times New Roman" panose="02020603050405020304" pitchFamily="18" charset="0"/>
              </a:rPr>
              <a:t>Kasneci</a:t>
            </a:r>
            <a:r>
              <a:rPr lang="en-IN" sz="2400" dirty="0">
                <a:latin typeface="Times New Roman" panose="02020603050405020304" pitchFamily="18" charset="0"/>
                <a:cs typeface="Times New Roman" panose="02020603050405020304" pitchFamily="18" charset="0"/>
              </a:rPr>
              <a:t>, E., Sessler, K., </a:t>
            </a:r>
            <a:r>
              <a:rPr lang="en-IN" sz="2400" dirty="0" err="1">
                <a:latin typeface="Times New Roman" panose="02020603050405020304" pitchFamily="18" charset="0"/>
                <a:cs typeface="Times New Roman" panose="02020603050405020304" pitchFamily="18" charset="0"/>
              </a:rPr>
              <a:t>Küchemann</a:t>
            </a:r>
            <a:r>
              <a:rPr lang="en-IN" sz="2400" dirty="0">
                <a:latin typeface="Times New Roman" panose="02020603050405020304" pitchFamily="18" charset="0"/>
                <a:cs typeface="Times New Roman" panose="02020603050405020304" pitchFamily="18" charset="0"/>
              </a:rPr>
              <a:t>, S., Bannert, M., Dementieva, D., Fischer, F., Gasser, U., Groh, G., </a:t>
            </a:r>
            <a:r>
              <a:rPr lang="en-IN" sz="2400" dirty="0" err="1">
                <a:latin typeface="Times New Roman" panose="02020603050405020304" pitchFamily="18" charset="0"/>
                <a:cs typeface="Times New Roman" panose="02020603050405020304" pitchFamily="18" charset="0"/>
              </a:rPr>
              <a:t>Günnemann</a:t>
            </a:r>
            <a:r>
              <a:rPr lang="en-IN" sz="2400" dirty="0">
                <a:latin typeface="Times New Roman" panose="02020603050405020304" pitchFamily="18" charset="0"/>
                <a:cs typeface="Times New Roman" panose="02020603050405020304" pitchFamily="18" charset="0"/>
              </a:rPr>
              <a:t>, S. and </a:t>
            </a:r>
            <a:r>
              <a:rPr lang="en-IN" sz="2400" dirty="0" err="1">
                <a:latin typeface="Times New Roman" panose="02020603050405020304" pitchFamily="18" charset="0"/>
                <a:cs typeface="Times New Roman" panose="02020603050405020304" pitchFamily="18" charset="0"/>
              </a:rPr>
              <a:t>Hüllermeier</a:t>
            </a:r>
            <a:r>
              <a:rPr lang="en-IN" sz="2400" dirty="0">
                <a:latin typeface="Times New Roman" panose="02020603050405020304" pitchFamily="18" charset="0"/>
                <a:cs typeface="Times New Roman" panose="02020603050405020304" pitchFamily="18" charset="0"/>
              </a:rPr>
              <a:t>, E. (2023) ‘ChatGPT for Good? On Opportunities and Challenges of Large Language Models for Education’, Learning and Individual Differences, Vol. 103, pp. 102274. </a:t>
            </a:r>
          </a:p>
          <a:p>
            <a:pPr marL="342900" indent="-342900" algn="just">
              <a:buAutoNum type="arabicPeriod" startAt="8"/>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9.	Li, H., Xu, T., Zhang, C., Chen, E., Liang, J., Fan, X., Tang, J. and Wen, Q. (2024) ‘Bringing Generative AI to Adaptive Learning in Education’,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preprint arXiv:2402.14601.</a:t>
            </a:r>
          </a:p>
          <a:p>
            <a:pPr marL="457200" indent="-457200" algn="just">
              <a:buAutoNum type="arabicPeriod" startAt="9"/>
            </a:pPr>
            <a:endParaRPr lang="en-IN" sz="2400" dirty="0">
              <a:solidFill>
                <a:schemeClr val="dk1"/>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10.	Elkins, S., Kochmar, E., Serrano, G. D., Becker, J. and Serrano, J. (2024) ‘How Teachers Can Use Large Language Models and Bloom's Taxonomy to Create Educational Quizzes’,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preprint arXiv:2401.05914.</a:t>
            </a:r>
            <a:endParaRPr lang="en-IN" sz="2400"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9882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DDC4B-4313-497A-52E4-EACEFE30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D4A4C9-FBC7-FFAC-8553-2696250FCF4E}"/>
              </a:ext>
            </a:extLst>
          </p:cNvPr>
          <p:cNvSpPr txBox="1"/>
          <p:nvPr/>
        </p:nvSpPr>
        <p:spPr>
          <a:xfrm>
            <a:off x="4025153" y="2687591"/>
            <a:ext cx="12306300" cy="1107996"/>
          </a:xfrm>
          <a:prstGeom prst="rect">
            <a:avLst/>
          </a:prstGeom>
          <a:noFill/>
        </p:spPr>
        <p:txBody>
          <a:bodyPr wrap="square">
            <a:spAutoFit/>
          </a:bodyPr>
          <a:lstStyle/>
          <a:p>
            <a:pPr algn="just"/>
            <a:r>
              <a:rPr lang="en-US" sz="6600" dirty="0">
                <a:solidFill>
                  <a:schemeClr val="dk1"/>
                </a:solidFill>
                <a:latin typeface="Times New Roman" panose="02020603050405020304" pitchFamily="18" charset="0"/>
                <a:cs typeface="Times New Roman" panose="02020603050405020304" pitchFamily="18" charset="0"/>
              </a:rPr>
              <a:t>THANK YOU</a:t>
            </a:r>
            <a:endParaRPr lang="en-IN" sz="6600"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6298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1014</TotalTime>
  <Words>2331</Words>
  <Application>Microsoft Office PowerPoint</Application>
  <PresentationFormat>Custom</PresentationFormat>
  <Paragraphs>333</Paragraphs>
  <Slides>31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Times New Roman</vt:lpstr>
      <vt:lpstr>Calibri Light</vt:lpstr>
      <vt:lpstr>EB Garamond</vt:lpstr>
      <vt:lpstr>Calibri</vt:lpstr>
      <vt:lpstr>Outfit ExtraBold</vt:lpstr>
      <vt:lpstr>Arial</vt:lpstr>
      <vt:lpstr>EB Garamond ExtraBold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Purnima G</dc:creator>
  <cp:lastModifiedBy>Purnima G</cp:lastModifiedBy>
  <cp:revision>14</cp:revision>
  <dcterms:modified xsi:type="dcterms:W3CDTF">2026-05-06T02:54:04Z</dcterms:modified>
</cp:coreProperties>
</file>